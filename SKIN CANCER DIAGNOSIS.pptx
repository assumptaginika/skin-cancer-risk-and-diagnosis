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4" r:id="rId2"/>
    <p:sldId id="256" r:id="rId3"/>
    <p:sldId id="263" r:id="rId4"/>
    <p:sldId id="257" r:id="rId5"/>
    <p:sldId id="258" r:id="rId6"/>
    <p:sldId id="259" r:id="rId7"/>
    <p:sldId id="260" r:id="rId8"/>
    <p:sldId id="261" r:id="rId9"/>
    <p:sldId id="26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195"/>
    <p:restoredTop sz="94679"/>
  </p:normalViewPr>
  <p:slideViewPr>
    <p:cSldViewPr snapToGrid="0">
      <p:cViewPr varScale="1">
        <p:scale>
          <a:sx n="100" d="100"/>
          <a:sy n="100" d="100"/>
        </p:scale>
        <p:origin x="168" y="2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Age</a:t>
            </a:r>
            <a:r>
              <a:rPr lang="en-US" baseline="0" dirty="0"/>
              <a:t> group in relation to Skin cancer </a:t>
            </a:r>
            <a:endParaRPr lang="en-US" dirty="0"/>
          </a:p>
        </c:rich>
      </c:tx>
      <c:layout>
        <c:manualLayout>
          <c:xMode val="edge"/>
          <c:yMode val="edge"/>
          <c:x val="0.2021481648238119"/>
          <c:y val="3.9349563807911291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2.2012580796571167E-2"/>
          <c:y val="0.1027218275607099"/>
          <c:w val="0.9515723222475434"/>
          <c:h val="0.73575623578963334"/>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older adult</c:v>
                </c:pt>
                <c:pt idx="1">
                  <c:v>elderly</c:v>
                </c:pt>
                <c:pt idx="2">
                  <c:v>adult</c:v>
                </c:pt>
                <c:pt idx="3">
                  <c:v>youth</c:v>
                </c:pt>
                <c:pt idx="4">
                  <c:v>child</c:v>
                </c:pt>
              </c:strCache>
            </c:strRef>
          </c:cat>
          <c:val>
            <c:numRef>
              <c:f>Sheet1!$B$2:$B$6</c:f>
              <c:numCache>
                <c:formatCode>General</c:formatCode>
                <c:ptCount val="5"/>
                <c:pt idx="0">
                  <c:v>126</c:v>
                </c:pt>
                <c:pt idx="1">
                  <c:v>60</c:v>
                </c:pt>
                <c:pt idx="2">
                  <c:v>29</c:v>
                </c:pt>
                <c:pt idx="3">
                  <c:v>7</c:v>
                </c:pt>
                <c:pt idx="4">
                  <c:v>2</c:v>
                </c:pt>
              </c:numCache>
            </c:numRef>
          </c:val>
          <c:extLst>
            <c:ext xmlns:c16="http://schemas.microsoft.com/office/drawing/2014/chart" uri="{C3380CC4-5D6E-409C-BE32-E72D297353CC}">
              <c16:uniqueId val="{00000000-17FB-5343-87EC-860580CB7B73}"/>
            </c:ext>
          </c:extLst>
        </c:ser>
        <c:dLbls>
          <c:dLblPos val="outEnd"/>
          <c:showLegendKey val="0"/>
          <c:showVal val="1"/>
          <c:showCatName val="0"/>
          <c:showSerName val="0"/>
          <c:showPercent val="0"/>
          <c:showBubbleSize val="0"/>
        </c:dLbls>
        <c:gapWidth val="219"/>
        <c:overlap val="-27"/>
        <c:axId val="123380815"/>
        <c:axId val="161601839"/>
      </c:barChart>
      <c:catAx>
        <c:axId val="1233808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1601839"/>
        <c:crosses val="autoZero"/>
        <c:auto val="1"/>
        <c:lblAlgn val="ctr"/>
        <c:lblOffset val="100"/>
        <c:noMultiLvlLbl val="0"/>
      </c:catAx>
      <c:valAx>
        <c:axId val="161601839"/>
        <c:scaling>
          <c:orientation val="minMax"/>
        </c:scaling>
        <c:delete val="1"/>
        <c:axPos val="l"/>
        <c:numFmt formatCode="General" sourceLinked="1"/>
        <c:majorTickMark val="none"/>
        <c:minorTickMark val="none"/>
        <c:tickLblPos val="nextTo"/>
        <c:crossAx val="12338081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Gender</a:t>
            </a:r>
            <a:r>
              <a:rPr lang="en-US" baseline="0" dirty="0"/>
              <a:t> in relation to skin cancer</a:t>
            </a:r>
            <a:endParaRPr lang="en-US" dirty="0"/>
          </a:p>
        </c:rich>
      </c:tx>
      <c:layout>
        <c:manualLayout>
          <c:xMode val="edge"/>
          <c:yMode val="edge"/>
          <c:x val="0.14628667799208944"/>
          <c:y val="4.5093779082380651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Sales</c:v>
                </c:pt>
              </c:strCache>
            </c:strRef>
          </c:tx>
          <c:dPt>
            <c:idx val="0"/>
            <c:bubble3D val="0"/>
            <c:spPr>
              <a:solidFill>
                <a:schemeClr val="accent1">
                  <a:shade val="58000"/>
                </a:schemeClr>
              </a:solidFill>
              <a:ln w="19050">
                <a:solidFill>
                  <a:schemeClr val="lt1"/>
                </a:solidFill>
              </a:ln>
              <a:effectLst/>
            </c:spPr>
            <c:extLst>
              <c:ext xmlns:c16="http://schemas.microsoft.com/office/drawing/2014/chart" uri="{C3380CC4-5D6E-409C-BE32-E72D297353CC}">
                <c16:uniqueId val="{00000002-83B1-A74A-98B4-EA7FF5713FAD}"/>
              </c:ext>
            </c:extLst>
          </c:dPt>
          <c:dPt>
            <c:idx val="1"/>
            <c:bubble3D val="0"/>
            <c:spPr>
              <a:solidFill>
                <a:schemeClr val="accent1">
                  <a:shade val="86000"/>
                </a:schemeClr>
              </a:solidFill>
              <a:ln w="19050">
                <a:solidFill>
                  <a:schemeClr val="lt1"/>
                </a:solidFill>
              </a:ln>
              <a:effectLst/>
            </c:spPr>
            <c:extLst>
              <c:ext xmlns:c16="http://schemas.microsoft.com/office/drawing/2014/chart" uri="{C3380CC4-5D6E-409C-BE32-E72D297353CC}">
                <c16:uniqueId val="{00000001-83B1-A74A-98B4-EA7FF5713FAD}"/>
              </c:ext>
            </c:extLst>
          </c:dPt>
          <c:dPt>
            <c:idx val="2"/>
            <c:bubble3D val="0"/>
            <c:spPr>
              <a:solidFill>
                <a:schemeClr val="accent1">
                  <a:tint val="86000"/>
                </a:schemeClr>
              </a:solidFill>
              <a:ln w="19050">
                <a:solidFill>
                  <a:schemeClr val="lt1"/>
                </a:solidFill>
              </a:ln>
              <a:effectLst/>
            </c:spPr>
            <c:extLst>
              <c:ext xmlns:c16="http://schemas.microsoft.com/office/drawing/2014/chart" uri="{C3380CC4-5D6E-409C-BE32-E72D297353CC}">
                <c16:uniqueId val="{00000005-5606-5E43-A3E2-4206E3A476FC}"/>
              </c:ext>
            </c:extLst>
          </c:dPt>
          <c:dPt>
            <c:idx val="3"/>
            <c:bubble3D val="0"/>
            <c:spPr>
              <a:solidFill>
                <a:schemeClr val="accent1">
                  <a:tint val="58000"/>
                </a:schemeClr>
              </a:solidFill>
              <a:ln w="19050">
                <a:solidFill>
                  <a:schemeClr val="lt1"/>
                </a:solidFill>
              </a:ln>
              <a:effectLst/>
            </c:spPr>
            <c:extLst>
              <c:ext xmlns:c16="http://schemas.microsoft.com/office/drawing/2014/chart" uri="{C3380CC4-5D6E-409C-BE32-E72D297353CC}">
                <c16:uniqueId val="{00000007-5606-5E43-A3E2-4206E3A476FC}"/>
              </c:ext>
            </c:extLst>
          </c:dPt>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83B1-A74A-98B4-EA7FF5713FAD}"/>
                </c:ext>
              </c:extLst>
            </c:dLbl>
            <c:dLbl>
              <c:idx val="1"/>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3B1-A74A-98B4-EA7FF5713FAD}"/>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highlight>
                      <a:srgbClr val="C0C0C0"/>
                    </a:highlight>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s>
          <c:cat>
            <c:strRef>
              <c:f>Sheet1!$A$2:$A$5</c:f>
              <c:strCache>
                <c:ptCount val="2"/>
                <c:pt idx="0">
                  <c:v>MALE</c:v>
                </c:pt>
                <c:pt idx="1">
                  <c:v>FEMALE</c:v>
                </c:pt>
              </c:strCache>
            </c:strRef>
          </c:cat>
          <c:val>
            <c:numRef>
              <c:f>Sheet1!$B$2:$B$5</c:f>
              <c:numCache>
                <c:formatCode>General</c:formatCode>
                <c:ptCount val="4"/>
                <c:pt idx="0">
                  <c:v>109</c:v>
                </c:pt>
                <c:pt idx="1">
                  <c:v>115</c:v>
                </c:pt>
              </c:numCache>
            </c:numRef>
          </c:val>
          <c:extLst>
            <c:ext xmlns:c16="http://schemas.microsoft.com/office/drawing/2014/chart" uri="{C3380CC4-5D6E-409C-BE32-E72D297353CC}">
              <c16:uniqueId val="{00000000-83B1-A74A-98B4-EA7FF5713FAD}"/>
            </c:ext>
          </c:extLst>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2"/>
        <c:delete val="1"/>
      </c:legendEntry>
      <c:legendEntry>
        <c:idx val="3"/>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1" i="0" u="none" strike="noStrike" kern="1200" spc="0" baseline="0">
                <a:solidFill>
                  <a:schemeClr val="tx1">
                    <a:lumMod val="65000"/>
                    <a:lumOff val="35000"/>
                  </a:schemeClr>
                </a:solidFill>
                <a:latin typeface="+mn-lt"/>
                <a:ea typeface="+mn-ea"/>
                <a:cs typeface="+mn-cs"/>
              </a:defRPr>
            </a:pPr>
            <a:r>
              <a:rPr lang="en-US"/>
              <a:t>Diagnosis Frequency</a:t>
            </a:r>
          </a:p>
        </c:rich>
      </c:tx>
      <c:layout>
        <c:manualLayout>
          <c:xMode val="edge"/>
          <c:yMode val="edge"/>
          <c:x val="0.34632052041881861"/>
          <c:y val="3.4293552812071332E-2"/>
        </c:manualLayout>
      </c:layout>
      <c:overlay val="0"/>
      <c:spPr>
        <a:noFill/>
        <a:ln>
          <a:noFill/>
        </a:ln>
        <a:effectLst/>
      </c:spPr>
      <c:txPr>
        <a:bodyPr rot="0" spcFirstLastPara="1" vertOverflow="ellipsis" vert="horz" wrap="square" anchor="ctr" anchorCtr="1"/>
        <a:lstStyle/>
        <a:p>
          <a:pPr>
            <a:defRPr sz="1862"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
          <c:y val="0.14456892734087251"/>
          <c:w val="0.97114807727854291"/>
          <c:h val="0.75428669410150895"/>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197"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ACK</c:v>
                </c:pt>
                <c:pt idx="1">
                  <c:v>BCC</c:v>
                </c:pt>
                <c:pt idx="2">
                  <c:v>NEV</c:v>
                </c:pt>
                <c:pt idx="3">
                  <c:v>SEK</c:v>
                </c:pt>
                <c:pt idx="4">
                  <c:v>SCC</c:v>
                </c:pt>
                <c:pt idx="5">
                  <c:v>MEL</c:v>
                </c:pt>
              </c:strCache>
            </c:strRef>
          </c:cat>
          <c:val>
            <c:numRef>
              <c:f>Sheet1!$B$2:$B$7</c:f>
              <c:numCache>
                <c:formatCode>General</c:formatCode>
                <c:ptCount val="6"/>
                <c:pt idx="0">
                  <c:v>461</c:v>
                </c:pt>
                <c:pt idx="1">
                  <c:v>273</c:v>
                </c:pt>
                <c:pt idx="2">
                  <c:v>144</c:v>
                </c:pt>
                <c:pt idx="3">
                  <c:v>137</c:v>
                </c:pt>
                <c:pt idx="4">
                  <c:v>56</c:v>
                </c:pt>
                <c:pt idx="5">
                  <c:v>17</c:v>
                </c:pt>
              </c:numCache>
            </c:numRef>
          </c:val>
          <c:extLst>
            <c:ext xmlns:c16="http://schemas.microsoft.com/office/drawing/2014/chart" uri="{C3380CC4-5D6E-409C-BE32-E72D297353CC}">
              <c16:uniqueId val="{00000000-9504-9A4B-939B-E6128B63FFD7}"/>
            </c:ext>
          </c:extLst>
        </c:ser>
        <c:dLbls>
          <c:dLblPos val="outEnd"/>
          <c:showLegendKey val="0"/>
          <c:showVal val="1"/>
          <c:showCatName val="0"/>
          <c:showSerName val="0"/>
          <c:showPercent val="0"/>
          <c:showBubbleSize val="0"/>
        </c:dLbls>
        <c:gapWidth val="219"/>
        <c:overlap val="-27"/>
        <c:axId val="136663423"/>
        <c:axId val="135346767"/>
      </c:barChart>
      <c:catAx>
        <c:axId val="1366634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135346767"/>
        <c:crosses val="autoZero"/>
        <c:auto val="1"/>
        <c:lblAlgn val="ctr"/>
        <c:lblOffset val="100"/>
        <c:noMultiLvlLbl val="0"/>
      </c:catAx>
      <c:valAx>
        <c:axId val="135346767"/>
        <c:scaling>
          <c:orientation val="minMax"/>
        </c:scaling>
        <c:delete val="1"/>
        <c:axPos val="l"/>
        <c:numFmt formatCode="General" sourceLinked="1"/>
        <c:majorTickMark val="none"/>
        <c:minorTickMark val="none"/>
        <c:tickLblPos val="nextTo"/>
        <c:crossAx val="13666342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1"/>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Symptoms</a:t>
            </a:r>
            <a:r>
              <a:rPr lang="en-US" baseline="0" dirty="0"/>
              <a:t> associated with L</a:t>
            </a:r>
            <a:r>
              <a:rPr lang="en-US" dirty="0"/>
              <a:t>esion</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itch</c:v>
                </c:pt>
              </c:strCache>
            </c:strRef>
          </c:tx>
          <c:spPr>
            <a:solidFill>
              <a:schemeClr val="accent1">
                <a:tint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Sheet1!$B$2</c:f>
              <c:numCache>
                <c:formatCode>General</c:formatCode>
                <c:ptCount val="1"/>
                <c:pt idx="0">
                  <c:v>670</c:v>
                </c:pt>
              </c:numCache>
            </c:numRef>
          </c:val>
          <c:extLst>
            <c:ext xmlns:c16="http://schemas.microsoft.com/office/drawing/2014/chart" uri="{C3380CC4-5D6E-409C-BE32-E72D297353CC}">
              <c16:uniqueId val="{00000000-3668-E845-B951-F858FC656E88}"/>
            </c:ext>
          </c:extLst>
        </c:ser>
        <c:ser>
          <c:idx val="1"/>
          <c:order val="1"/>
          <c:tx>
            <c:strRef>
              <c:f>Sheet1!$C$1</c:f>
              <c:strCache>
                <c:ptCount val="1"/>
                <c:pt idx="0">
                  <c:v>grew</c:v>
                </c:pt>
              </c:strCache>
            </c:strRef>
          </c:tx>
          <c:spPr>
            <a:solidFill>
              <a:schemeClr val="accent1">
                <a:tint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Sheet1!$C$2</c:f>
              <c:numCache>
                <c:formatCode>General</c:formatCode>
                <c:ptCount val="1"/>
                <c:pt idx="0">
                  <c:v>510</c:v>
                </c:pt>
              </c:numCache>
            </c:numRef>
          </c:val>
          <c:extLst>
            <c:ext xmlns:c16="http://schemas.microsoft.com/office/drawing/2014/chart" uri="{C3380CC4-5D6E-409C-BE32-E72D297353CC}">
              <c16:uniqueId val="{00000001-3668-E845-B951-F858FC656E88}"/>
            </c:ext>
          </c:extLst>
        </c:ser>
        <c:ser>
          <c:idx val="2"/>
          <c:order val="2"/>
          <c:tx>
            <c:strRef>
              <c:f>Sheet1!$D$1</c:f>
              <c:strCache>
                <c:ptCount val="1"/>
                <c:pt idx="0">
                  <c:v>hurt</c:v>
                </c:pt>
              </c:strCache>
            </c:strRef>
          </c:tx>
          <c:spPr>
            <a:solidFill>
              <a:schemeClr val="accent1">
                <a:tint val="9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Sheet1!$D$2</c:f>
              <c:numCache>
                <c:formatCode>General</c:formatCode>
                <c:ptCount val="1"/>
                <c:pt idx="0">
                  <c:v>151</c:v>
                </c:pt>
              </c:numCache>
            </c:numRef>
          </c:val>
          <c:extLst>
            <c:ext xmlns:c16="http://schemas.microsoft.com/office/drawing/2014/chart" uri="{C3380CC4-5D6E-409C-BE32-E72D297353CC}">
              <c16:uniqueId val="{00000002-3668-E845-B951-F858FC656E88}"/>
            </c:ext>
          </c:extLst>
        </c:ser>
        <c:ser>
          <c:idx val="3"/>
          <c:order val="3"/>
          <c:tx>
            <c:strRef>
              <c:f>Sheet1!$E$1</c:f>
              <c:strCache>
                <c:ptCount val="1"/>
                <c:pt idx="0">
                  <c:v>changed</c:v>
                </c:pt>
              </c:strCache>
            </c:strRef>
          </c:tx>
          <c:spPr>
            <a:solidFill>
              <a:schemeClr val="accent1">
                <a:shade val="9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Sheet1!$E$2</c:f>
              <c:numCache>
                <c:formatCode>General</c:formatCode>
                <c:ptCount val="1"/>
                <c:pt idx="0">
                  <c:v>99</c:v>
                </c:pt>
              </c:numCache>
            </c:numRef>
          </c:val>
          <c:extLst>
            <c:ext xmlns:c16="http://schemas.microsoft.com/office/drawing/2014/chart" uri="{C3380CC4-5D6E-409C-BE32-E72D297353CC}">
              <c16:uniqueId val="{00000003-3668-E845-B951-F858FC656E88}"/>
            </c:ext>
          </c:extLst>
        </c:ser>
        <c:ser>
          <c:idx val="4"/>
          <c:order val="4"/>
          <c:tx>
            <c:strRef>
              <c:f>Sheet1!$F$1</c:f>
              <c:strCache>
                <c:ptCount val="1"/>
                <c:pt idx="0">
                  <c:v>bleed</c:v>
                </c:pt>
              </c:strCache>
            </c:strRef>
          </c:tx>
          <c:spPr>
            <a:solidFill>
              <a:schemeClr val="accent1">
                <a:shade val="7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Sheet1!$F$2</c:f>
              <c:numCache>
                <c:formatCode>General</c:formatCode>
                <c:ptCount val="1"/>
                <c:pt idx="0">
                  <c:v>222</c:v>
                </c:pt>
              </c:numCache>
            </c:numRef>
          </c:val>
          <c:extLst>
            <c:ext xmlns:c16="http://schemas.microsoft.com/office/drawing/2014/chart" uri="{C3380CC4-5D6E-409C-BE32-E72D297353CC}">
              <c16:uniqueId val="{00000004-3668-E845-B951-F858FC656E88}"/>
            </c:ext>
          </c:extLst>
        </c:ser>
        <c:ser>
          <c:idx val="5"/>
          <c:order val="5"/>
          <c:tx>
            <c:strRef>
              <c:f>Sheet1!$G$1</c:f>
              <c:strCache>
                <c:ptCount val="1"/>
                <c:pt idx="0">
                  <c:v>elevation</c:v>
                </c:pt>
              </c:strCache>
            </c:strRef>
          </c:tx>
          <c:spPr>
            <a:solidFill>
              <a:schemeClr val="accent1">
                <a:shade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Sheet1!$G$2</c:f>
              <c:numCache>
                <c:formatCode>General</c:formatCode>
                <c:ptCount val="1"/>
                <c:pt idx="0">
                  <c:v>611</c:v>
                </c:pt>
              </c:numCache>
            </c:numRef>
          </c:val>
          <c:extLst>
            <c:ext xmlns:c16="http://schemas.microsoft.com/office/drawing/2014/chart" uri="{C3380CC4-5D6E-409C-BE32-E72D297353CC}">
              <c16:uniqueId val="{00000005-3668-E845-B951-F858FC656E88}"/>
            </c:ext>
          </c:extLst>
        </c:ser>
        <c:dLbls>
          <c:dLblPos val="outEnd"/>
          <c:showLegendKey val="0"/>
          <c:showVal val="1"/>
          <c:showCatName val="0"/>
          <c:showSerName val="0"/>
          <c:showPercent val="0"/>
          <c:showBubbleSize val="0"/>
        </c:dLbls>
        <c:gapWidth val="219"/>
        <c:overlap val="-27"/>
        <c:axId val="1967899840"/>
        <c:axId val="1968133424"/>
      </c:barChart>
      <c:catAx>
        <c:axId val="19678998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968133424"/>
        <c:crosses val="autoZero"/>
        <c:auto val="1"/>
        <c:lblAlgn val="ctr"/>
        <c:lblOffset val="100"/>
        <c:noMultiLvlLbl val="0"/>
      </c:catAx>
      <c:valAx>
        <c:axId val="1968133424"/>
        <c:scaling>
          <c:orientation val="minMax"/>
        </c:scaling>
        <c:delete val="1"/>
        <c:axPos val="l"/>
        <c:numFmt formatCode="General" sourceLinked="1"/>
        <c:majorTickMark val="none"/>
        <c:minorTickMark val="none"/>
        <c:tickLblPos val="nextTo"/>
        <c:crossAx val="196789984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b="1" dirty="0"/>
              <a:t>Body</a:t>
            </a:r>
            <a:r>
              <a:rPr lang="en-US" b="1" baseline="0" dirty="0"/>
              <a:t> region vs severe diagnosis</a:t>
            </a:r>
            <a:endParaRPr lang="en-US" b="1"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Sheet1!$A$2:$A$15</c:f>
              <c:strCache>
                <c:ptCount val="14"/>
                <c:pt idx="0">
                  <c:v>FACE</c:v>
                </c:pt>
                <c:pt idx="1">
                  <c:v>FOREARM</c:v>
                </c:pt>
                <c:pt idx="2">
                  <c:v>CHEST</c:v>
                </c:pt>
                <c:pt idx="3">
                  <c:v>BACK</c:v>
                </c:pt>
                <c:pt idx="4">
                  <c:v>ARM</c:v>
                </c:pt>
                <c:pt idx="5">
                  <c:v>NOSE</c:v>
                </c:pt>
                <c:pt idx="6">
                  <c:v>HAND</c:v>
                </c:pt>
                <c:pt idx="7">
                  <c:v>NECK</c:v>
                </c:pt>
                <c:pt idx="8">
                  <c:v>THIGH</c:v>
                </c:pt>
                <c:pt idx="9">
                  <c:v>EAR</c:v>
                </c:pt>
                <c:pt idx="10">
                  <c:v>ABDOMEN</c:v>
                </c:pt>
                <c:pt idx="11">
                  <c:v>SCALP</c:v>
                </c:pt>
                <c:pt idx="12">
                  <c:v>LIP</c:v>
                </c:pt>
                <c:pt idx="13">
                  <c:v>FOOT</c:v>
                </c:pt>
              </c:strCache>
            </c:strRef>
          </c:cat>
          <c:val>
            <c:numRef>
              <c:f>Sheet1!$B$2:$B$15</c:f>
              <c:numCache>
                <c:formatCode>General</c:formatCode>
                <c:ptCount val="14"/>
                <c:pt idx="0">
                  <c:v>278</c:v>
                </c:pt>
                <c:pt idx="1">
                  <c:v>219</c:v>
                </c:pt>
                <c:pt idx="2">
                  <c:v>124</c:v>
                </c:pt>
                <c:pt idx="3">
                  <c:v>105</c:v>
                </c:pt>
                <c:pt idx="4">
                  <c:v>92</c:v>
                </c:pt>
                <c:pt idx="5">
                  <c:v>68</c:v>
                </c:pt>
                <c:pt idx="6">
                  <c:v>55</c:v>
                </c:pt>
                <c:pt idx="7">
                  <c:v>37</c:v>
                </c:pt>
                <c:pt idx="8">
                  <c:v>35</c:v>
                </c:pt>
                <c:pt idx="9">
                  <c:v>32</c:v>
                </c:pt>
                <c:pt idx="10">
                  <c:v>20</c:v>
                </c:pt>
                <c:pt idx="11">
                  <c:v>11</c:v>
                </c:pt>
                <c:pt idx="12">
                  <c:v>7</c:v>
                </c:pt>
                <c:pt idx="13">
                  <c:v>5</c:v>
                </c:pt>
              </c:numCache>
            </c:numRef>
          </c:val>
          <c:extLst>
            <c:ext xmlns:c16="http://schemas.microsoft.com/office/drawing/2014/chart" uri="{C3380CC4-5D6E-409C-BE32-E72D297353CC}">
              <c16:uniqueId val="{00000000-0D70-8B4A-9B61-1DDA4A72A25C}"/>
            </c:ext>
          </c:extLst>
        </c:ser>
        <c:ser>
          <c:idx val="1"/>
          <c:order val="1"/>
          <c:tx>
            <c:strRef>
              <c:f>Sheet1!$C$1</c:f>
              <c:strCache>
                <c:ptCount val="1"/>
                <c:pt idx="0">
                  <c:v>Series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Sheet1!$A$2:$A$15</c:f>
              <c:strCache>
                <c:ptCount val="14"/>
                <c:pt idx="0">
                  <c:v>FACE</c:v>
                </c:pt>
                <c:pt idx="1">
                  <c:v>FOREARM</c:v>
                </c:pt>
                <c:pt idx="2">
                  <c:v>CHEST</c:v>
                </c:pt>
                <c:pt idx="3">
                  <c:v>BACK</c:v>
                </c:pt>
                <c:pt idx="4">
                  <c:v>ARM</c:v>
                </c:pt>
                <c:pt idx="5">
                  <c:v>NOSE</c:v>
                </c:pt>
                <c:pt idx="6">
                  <c:v>HAND</c:v>
                </c:pt>
                <c:pt idx="7">
                  <c:v>NECK</c:v>
                </c:pt>
                <c:pt idx="8">
                  <c:v>THIGH</c:v>
                </c:pt>
                <c:pt idx="9">
                  <c:v>EAR</c:v>
                </c:pt>
                <c:pt idx="10">
                  <c:v>ABDOMEN</c:v>
                </c:pt>
                <c:pt idx="11">
                  <c:v>SCALP</c:v>
                </c:pt>
                <c:pt idx="12">
                  <c:v>LIP</c:v>
                </c:pt>
                <c:pt idx="13">
                  <c:v>FOOT</c:v>
                </c:pt>
              </c:strCache>
            </c:strRef>
          </c:cat>
          <c:val>
            <c:numRef>
              <c:f>Sheet1!$C$2:$C$15</c:f>
              <c:numCache>
                <c:formatCode>General</c:formatCode>
                <c:ptCount val="14"/>
              </c:numCache>
            </c:numRef>
          </c:val>
          <c:extLst>
            <c:ext xmlns:c16="http://schemas.microsoft.com/office/drawing/2014/chart" uri="{C3380CC4-5D6E-409C-BE32-E72D297353CC}">
              <c16:uniqueId val="{00000001-0D70-8B4A-9B61-1DDA4A72A25C}"/>
            </c:ext>
          </c:extLst>
        </c:ser>
        <c:ser>
          <c:idx val="2"/>
          <c:order val="2"/>
          <c:tx>
            <c:strRef>
              <c:f>Sheet1!$D$1</c:f>
              <c:strCache>
                <c:ptCount val="1"/>
                <c:pt idx="0">
                  <c:v>Series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Sheet1!$A$2:$A$15</c:f>
              <c:strCache>
                <c:ptCount val="14"/>
                <c:pt idx="0">
                  <c:v>FACE</c:v>
                </c:pt>
                <c:pt idx="1">
                  <c:v>FOREARM</c:v>
                </c:pt>
                <c:pt idx="2">
                  <c:v>CHEST</c:v>
                </c:pt>
                <c:pt idx="3">
                  <c:v>BACK</c:v>
                </c:pt>
                <c:pt idx="4">
                  <c:v>ARM</c:v>
                </c:pt>
                <c:pt idx="5">
                  <c:v>NOSE</c:v>
                </c:pt>
                <c:pt idx="6">
                  <c:v>HAND</c:v>
                </c:pt>
                <c:pt idx="7">
                  <c:v>NECK</c:v>
                </c:pt>
                <c:pt idx="8">
                  <c:v>THIGH</c:v>
                </c:pt>
                <c:pt idx="9">
                  <c:v>EAR</c:v>
                </c:pt>
                <c:pt idx="10">
                  <c:v>ABDOMEN</c:v>
                </c:pt>
                <c:pt idx="11">
                  <c:v>SCALP</c:v>
                </c:pt>
                <c:pt idx="12">
                  <c:v>LIP</c:v>
                </c:pt>
                <c:pt idx="13">
                  <c:v>FOOT</c:v>
                </c:pt>
              </c:strCache>
            </c:strRef>
          </c:cat>
          <c:val>
            <c:numRef>
              <c:f>Sheet1!$D$2:$D$15</c:f>
              <c:numCache>
                <c:formatCode>General</c:formatCode>
                <c:ptCount val="14"/>
              </c:numCache>
            </c:numRef>
          </c:val>
          <c:extLst>
            <c:ext xmlns:c16="http://schemas.microsoft.com/office/drawing/2014/chart" uri="{C3380CC4-5D6E-409C-BE32-E72D297353CC}">
              <c16:uniqueId val="{00000002-0D70-8B4A-9B61-1DDA4A72A25C}"/>
            </c:ext>
          </c:extLst>
        </c:ser>
        <c:dLbls>
          <c:dLblPos val="outEnd"/>
          <c:showLegendKey val="0"/>
          <c:showVal val="1"/>
          <c:showCatName val="0"/>
          <c:showSerName val="0"/>
          <c:showPercent val="0"/>
          <c:showBubbleSize val="0"/>
        </c:dLbls>
        <c:gapWidth val="219"/>
        <c:overlap val="-27"/>
        <c:axId val="133418239"/>
        <c:axId val="133873855"/>
      </c:barChart>
      <c:catAx>
        <c:axId val="13341823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133873855"/>
        <c:crosses val="autoZero"/>
        <c:auto val="1"/>
        <c:lblAlgn val="ctr"/>
        <c:lblOffset val="100"/>
        <c:noMultiLvlLbl val="0"/>
      </c:catAx>
      <c:valAx>
        <c:axId val="133873855"/>
        <c:scaling>
          <c:orientation val="minMax"/>
        </c:scaling>
        <c:delete val="1"/>
        <c:axPos val="l"/>
        <c:numFmt formatCode="General" sourceLinked="1"/>
        <c:majorTickMark val="none"/>
        <c:minorTickMark val="none"/>
        <c:tickLblPos val="nextTo"/>
        <c:crossAx val="133418239"/>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b="1" dirty="0"/>
              <a:t>Poor</a:t>
            </a:r>
            <a:r>
              <a:rPr lang="en-US" b="1" baseline="0" dirty="0"/>
              <a:t> sanitation and diagnosis outcome</a:t>
            </a:r>
            <a:endParaRPr lang="en-US" b="1" dirty="0"/>
          </a:p>
        </c:rich>
      </c:tx>
      <c:layout>
        <c:manualLayout>
          <c:xMode val="edge"/>
          <c:yMode val="edge"/>
          <c:x val="0.10906799379524303"/>
          <c:y val="0"/>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3365266389271144"/>
          <c:y val="0.18614566658793069"/>
          <c:w val="0.81464102793769178"/>
          <c:h val="0.7700319555163655"/>
        </c:manualLayout>
      </c:layout>
      <c:barChart>
        <c:barDir val="bar"/>
        <c:grouping val="clustered"/>
        <c:varyColors val="0"/>
        <c:ser>
          <c:idx val="0"/>
          <c:order val="0"/>
          <c:tx>
            <c:strRef>
              <c:f>Sheet1!$B$1</c:f>
              <c:strCache>
                <c:ptCount val="1"/>
                <c:pt idx="0">
                  <c:v>378</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BCC</c:v>
                </c:pt>
                <c:pt idx="1">
                  <c:v>NEV</c:v>
                </c:pt>
                <c:pt idx="2">
                  <c:v>SEK</c:v>
                </c:pt>
                <c:pt idx="3">
                  <c:v>BCC</c:v>
                </c:pt>
                <c:pt idx="4">
                  <c:v>ACK</c:v>
                </c:pt>
                <c:pt idx="5">
                  <c:v>SCC</c:v>
                </c:pt>
                <c:pt idx="6">
                  <c:v>SCC</c:v>
                </c:pt>
                <c:pt idx="7">
                  <c:v>NEV</c:v>
                </c:pt>
                <c:pt idx="8">
                  <c:v>MEL</c:v>
                </c:pt>
                <c:pt idx="9">
                  <c:v>SEK</c:v>
                </c:pt>
                <c:pt idx="10">
                  <c:v>MEL</c:v>
                </c:pt>
              </c:strCache>
            </c:strRef>
          </c:cat>
          <c:val>
            <c:numRef>
              <c:f>Sheet1!$B$2:$B$12</c:f>
              <c:numCache>
                <c:formatCode>General</c:formatCode>
                <c:ptCount val="11"/>
                <c:pt idx="0">
                  <c:v>146</c:v>
                </c:pt>
                <c:pt idx="1">
                  <c:v>134</c:v>
                </c:pt>
                <c:pt idx="2">
                  <c:v>128</c:v>
                </c:pt>
                <c:pt idx="3">
                  <c:v>127</c:v>
                </c:pt>
                <c:pt idx="4">
                  <c:v>83</c:v>
                </c:pt>
                <c:pt idx="5">
                  <c:v>35</c:v>
                </c:pt>
                <c:pt idx="6">
                  <c:v>21</c:v>
                </c:pt>
                <c:pt idx="7">
                  <c:v>10</c:v>
                </c:pt>
                <c:pt idx="8">
                  <c:v>9</c:v>
                </c:pt>
                <c:pt idx="9">
                  <c:v>9</c:v>
                </c:pt>
                <c:pt idx="10">
                  <c:v>8</c:v>
                </c:pt>
              </c:numCache>
            </c:numRef>
          </c:val>
          <c:extLst>
            <c:ext xmlns:c16="http://schemas.microsoft.com/office/drawing/2014/chart" uri="{C3380CC4-5D6E-409C-BE32-E72D297353CC}">
              <c16:uniqueId val="{00000000-805D-B34E-9FF9-98F124A6EB5E}"/>
            </c:ext>
          </c:extLst>
        </c:ser>
        <c:ser>
          <c:idx val="1"/>
          <c:order val="1"/>
          <c:tx>
            <c:strRef>
              <c:f>Sheet1!$C$1</c:f>
              <c:strCache>
                <c:ptCount val="1"/>
                <c:pt idx="0">
                  <c:v>Series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BCC</c:v>
                </c:pt>
                <c:pt idx="1">
                  <c:v>NEV</c:v>
                </c:pt>
                <c:pt idx="2">
                  <c:v>SEK</c:v>
                </c:pt>
                <c:pt idx="3">
                  <c:v>BCC</c:v>
                </c:pt>
                <c:pt idx="4">
                  <c:v>ACK</c:v>
                </c:pt>
                <c:pt idx="5">
                  <c:v>SCC</c:v>
                </c:pt>
                <c:pt idx="6">
                  <c:v>SCC</c:v>
                </c:pt>
                <c:pt idx="7">
                  <c:v>NEV</c:v>
                </c:pt>
                <c:pt idx="8">
                  <c:v>MEL</c:v>
                </c:pt>
                <c:pt idx="9">
                  <c:v>SEK</c:v>
                </c:pt>
                <c:pt idx="10">
                  <c:v>MEL</c:v>
                </c:pt>
              </c:strCache>
            </c:strRef>
          </c:cat>
          <c:val>
            <c:numRef>
              <c:f>Sheet1!$C$2:$C$12</c:f>
              <c:numCache>
                <c:formatCode>General</c:formatCode>
                <c:ptCount val="11"/>
              </c:numCache>
            </c:numRef>
          </c:val>
          <c:extLst>
            <c:ext xmlns:c16="http://schemas.microsoft.com/office/drawing/2014/chart" uri="{C3380CC4-5D6E-409C-BE32-E72D297353CC}">
              <c16:uniqueId val="{00000001-805D-B34E-9FF9-98F124A6EB5E}"/>
            </c:ext>
          </c:extLst>
        </c:ser>
        <c:ser>
          <c:idx val="2"/>
          <c:order val="2"/>
          <c:tx>
            <c:strRef>
              <c:f>Sheet1!$D$1</c:f>
              <c:strCache>
                <c:ptCount val="1"/>
                <c:pt idx="0">
                  <c:v>Series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BCC</c:v>
                </c:pt>
                <c:pt idx="1">
                  <c:v>NEV</c:v>
                </c:pt>
                <c:pt idx="2">
                  <c:v>SEK</c:v>
                </c:pt>
                <c:pt idx="3">
                  <c:v>BCC</c:v>
                </c:pt>
                <c:pt idx="4">
                  <c:v>ACK</c:v>
                </c:pt>
                <c:pt idx="5">
                  <c:v>SCC</c:v>
                </c:pt>
                <c:pt idx="6">
                  <c:v>SCC</c:v>
                </c:pt>
                <c:pt idx="7">
                  <c:v>NEV</c:v>
                </c:pt>
                <c:pt idx="8">
                  <c:v>MEL</c:v>
                </c:pt>
                <c:pt idx="9">
                  <c:v>SEK</c:v>
                </c:pt>
                <c:pt idx="10">
                  <c:v>MEL</c:v>
                </c:pt>
              </c:strCache>
            </c:strRef>
          </c:cat>
          <c:val>
            <c:numRef>
              <c:f>Sheet1!$D$2:$D$12</c:f>
              <c:numCache>
                <c:formatCode>General</c:formatCode>
                <c:ptCount val="11"/>
              </c:numCache>
            </c:numRef>
          </c:val>
          <c:extLst>
            <c:ext xmlns:c16="http://schemas.microsoft.com/office/drawing/2014/chart" uri="{C3380CC4-5D6E-409C-BE32-E72D297353CC}">
              <c16:uniqueId val="{00000002-805D-B34E-9FF9-98F124A6EB5E}"/>
            </c:ext>
          </c:extLst>
        </c:ser>
        <c:dLbls>
          <c:dLblPos val="outEnd"/>
          <c:showLegendKey val="0"/>
          <c:showVal val="1"/>
          <c:showCatName val="0"/>
          <c:showSerName val="0"/>
          <c:showPercent val="0"/>
          <c:showBubbleSize val="0"/>
        </c:dLbls>
        <c:gapWidth val="182"/>
        <c:axId val="120054447"/>
        <c:axId val="2035244560"/>
      </c:barChart>
      <c:catAx>
        <c:axId val="120054447"/>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lumMod val="65000"/>
                    <a:lumOff val="35000"/>
                  </a:schemeClr>
                </a:solidFill>
                <a:latin typeface="+mn-lt"/>
                <a:ea typeface="+mn-ea"/>
                <a:cs typeface="+mn-cs"/>
              </a:defRPr>
            </a:pPr>
            <a:endParaRPr lang="en-US"/>
          </a:p>
        </c:txPr>
        <c:crossAx val="2035244560"/>
        <c:crosses val="autoZero"/>
        <c:auto val="1"/>
        <c:lblAlgn val="ctr"/>
        <c:lblOffset val="100"/>
        <c:noMultiLvlLbl val="0"/>
      </c:catAx>
      <c:valAx>
        <c:axId val="2035244560"/>
        <c:scaling>
          <c:orientation val="minMax"/>
        </c:scaling>
        <c:delete val="1"/>
        <c:axPos val="b"/>
        <c:numFmt formatCode="General" sourceLinked="1"/>
        <c:majorTickMark val="none"/>
        <c:minorTickMark val="none"/>
        <c:tickLblPos val="nextTo"/>
        <c:crossAx val="120054447"/>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Smoking</a:t>
            </a:r>
            <a:r>
              <a:rPr lang="en-US" baseline="0" dirty="0"/>
              <a:t> and Drinking vs likelihood of malignant condition</a:t>
            </a:r>
            <a:endParaRPr lang="en-US" dirty="0"/>
          </a:p>
        </c:rich>
      </c:tx>
      <c:overlay val="0"/>
      <c:spPr>
        <a:noFill/>
        <a:ln>
          <a:solidFill>
            <a:prstClr val="black">
              <a:lumMod val="25000"/>
              <a:lumOff val="75000"/>
            </a:prstClr>
          </a:solid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15"/>
      <c:rotY val="20"/>
      <c:depthPercent val="100"/>
      <c:rAngAx val="1"/>
    </c:view3D>
    <c:floor>
      <c:thickness val="0"/>
      <c:spPr>
        <a:noFill/>
        <a:ln>
          <a:noFill/>
        </a:ln>
        <a:effectLst/>
        <a:sp3d/>
      </c:spPr>
    </c:floor>
    <c:sideWall>
      <c:thickness val="0"/>
      <c:spPr>
        <a:noFill/>
        <a:ln w="25400">
          <a:noFill/>
        </a:ln>
        <a:effectLst/>
        <a:sp3d/>
      </c:spPr>
    </c:sideWall>
    <c:backWall>
      <c:thickness val="0"/>
      <c:spPr>
        <a:noFill/>
        <a:ln w="25400">
          <a:noFill/>
        </a:ln>
        <a:effectLst/>
        <a:sp3d/>
      </c:spPr>
    </c:backWall>
    <c:plotArea>
      <c:layout/>
      <c:bar3DChart>
        <c:barDir val="col"/>
        <c:grouping val="clustered"/>
        <c:varyColors val="0"/>
        <c:ser>
          <c:idx val="0"/>
          <c:order val="0"/>
          <c:tx>
            <c:strRef>
              <c:f>Sheet1!$B$1</c:f>
              <c:strCache>
                <c:ptCount val="1"/>
                <c:pt idx="0">
                  <c:v>Total Patients</c:v>
                </c:pt>
              </c:strCache>
            </c:strRef>
          </c:tx>
          <c:spPr>
            <a:solidFill>
              <a:schemeClr val="accent1">
                <a:shade val="76000"/>
              </a:schemeClr>
            </a:solidFill>
            <a:ln>
              <a:noFill/>
            </a:ln>
            <a:effectLst/>
            <a:sp3d/>
          </c:spPr>
          <c:invertIfNegative val="0"/>
          <c:dLbls>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14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cat>
            <c:strRef>
              <c:f>Sheet1!$A$2:$A$5</c:f>
              <c:strCache>
                <c:ptCount val="2"/>
                <c:pt idx="0">
                  <c:v>others</c:v>
                </c:pt>
                <c:pt idx="1">
                  <c:v>smoker_and_drink</c:v>
                </c:pt>
              </c:strCache>
            </c:strRef>
          </c:cat>
          <c:val>
            <c:numRef>
              <c:f>Sheet1!$B$2:$B$5</c:f>
              <c:numCache>
                <c:formatCode>General</c:formatCode>
                <c:ptCount val="4"/>
                <c:pt idx="0">
                  <c:v>1060</c:v>
                </c:pt>
                <c:pt idx="1">
                  <c:v>28</c:v>
                </c:pt>
              </c:numCache>
            </c:numRef>
          </c:val>
          <c:extLst>
            <c:ext xmlns:c16="http://schemas.microsoft.com/office/drawing/2014/chart" uri="{C3380CC4-5D6E-409C-BE32-E72D297353CC}">
              <c16:uniqueId val="{00000000-10F6-1148-9557-3B7DCFE8075E}"/>
            </c:ext>
          </c:extLst>
        </c:ser>
        <c:ser>
          <c:idx val="1"/>
          <c:order val="1"/>
          <c:tx>
            <c:strRef>
              <c:f>Sheet1!$C$1</c:f>
              <c:strCache>
                <c:ptCount val="1"/>
                <c:pt idx="0">
                  <c:v>Malignant cases</c:v>
                </c:pt>
              </c:strCache>
            </c:strRef>
          </c:tx>
          <c:spPr>
            <a:solidFill>
              <a:schemeClr val="accent1">
                <a:tint val="77000"/>
              </a:schemeClr>
            </a:solidFill>
            <a:ln>
              <a:noFill/>
            </a:ln>
            <a:effectLst/>
            <a:sp3d/>
          </c:spPr>
          <c:invertIfNegative val="0"/>
          <c:dLbls>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14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cat>
            <c:strRef>
              <c:f>Sheet1!$A$2:$A$5</c:f>
              <c:strCache>
                <c:ptCount val="2"/>
                <c:pt idx="0">
                  <c:v>others</c:v>
                </c:pt>
                <c:pt idx="1">
                  <c:v>smoker_and_drink</c:v>
                </c:pt>
              </c:strCache>
            </c:strRef>
          </c:cat>
          <c:val>
            <c:numRef>
              <c:f>Sheet1!$C$2:$C$5</c:f>
              <c:numCache>
                <c:formatCode>General</c:formatCode>
                <c:ptCount val="4"/>
                <c:pt idx="0">
                  <c:v>114</c:v>
                </c:pt>
                <c:pt idx="1">
                  <c:v>8</c:v>
                </c:pt>
              </c:numCache>
            </c:numRef>
          </c:val>
          <c:extLst>
            <c:ext xmlns:c16="http://schemas.microsoft.com/office/drawing/2014/chart" uri="{C3380CC4-5D6E-409C-BE32-E72D297353CC}">
              <c16:uniqueId val="{00000001-10F6-1148-9557-3B7DCFE8075E}"/>
            </c:ext>
          </c:extLst>
        </c:ser>
        <c:dLbls>
          <c:showLegendKey val="0"/>
          <c:showVal val="0"/>
          <c:showCatName val="0"/>
          <c:showSerName val="0"/>
          <c:showPercent val="0"/>
          <c:showBubbleSize val="0"/>
        </c:dLbls>
        <c:gapWidth val="150"/>
        <c:shape val="box"/>
        <c:axId val="2007780480"/>
        <c:axId val="2007782192"/>
        <c:axId val="0"/>
      </c:bar3DChart>
      <c:catAx>
        <c:axId val="200778048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07782192"/>
        <c:crosses val="autoZero"/>
        <c:auto val="1"/>
        <c:lblAlgn val="ctr"/>
        <c:lblOffset val="100"/>
        <c:noMultiLvlLbl val="0"/>
      </c:catAx>
      <c:valAx>
        <c:axId val="2007782192"/>
        <c:scaling>
          <c:orientation val="minMax"/>
        </c:scaling>
        <c:delete val="1"/>
        <c:axPos val="l"/>
        <c:majorGridlines>
          <c:spPr>
            <a:ln w="9525" cap="flat" cmpd="sng" algn="ctr">
              <a:noFill/>
              <a:round/>
            </a:ln>
            <a:effectLst/>
          </c:spPr>
        </c:majorGridlines>
        <c:numFmt formatCode="General" sourceLinked="1"/>
        <c:majorTickMark val="none"/>
        <c:minorTickMark val="none"/>
        <c:tickLblPos val="nextTo"/>
        <c:crossAx val="200778048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prstClr val="black">
          <a:lumMod val="25000"/>
          <a:lumOff val="75000"/>
        </a:prstClr>
      </a:solid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Lifestyle</a:t>
            </a:r>
            <a:r>
              <a:rPr lang="en-US" baseline="0" dirty="0"/>
              <a:t> factor that has the strongest r/ship with malignant condition</a:t>
            </a:r>
            <a:endParaRPr lang="en-US" dirty="0"/>
          </a:p>
        </c:rich>
      </c:tx>
      <c:overlay val="0"/>
      <c:spPr>
        <a:noFill/>
        <a:ln>
          <a:solidFill>
            <a:prstClr val="black">
              <a:lumMod val="25000"/>
              <a:lumOff val="75000"/>
            </a:prstClr>
          </a:solid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Sales</c:v>
                </c:pt>
              </c:strCache>
            </c:strRef>
          </c:tx>
          <c:dPt>
            <c:idx val="0"/>
            <c:bubble3D val="0"/>
            <c:spPr>
              <a:solidFill>
                <a:schemeClr val="accent1">
                  <a:shade val="58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1-E2AF-A144-AD4A-3DE5B26DB47A}"/>
              </c:ext>
            </c:extLst>
          </c:dPt>
          <c:dPt>
            <c:idx val="1"/>
            <c:bubble3D val="0"/>
            <c:spPr>
              <a:solidFill>
                <a:schemeClr val="accent1">
                  <a:shade val="86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3-E2AF-A144-AD4A-3DE5B26DB47A}"/>
              </c:ext>
            </c:extLst>
          </c:dPt>
          <c:dPt>
            <c:idx val="2"/>
            <c:bubble3D val="0"/>
            <c:spPr>
              <a:solidFill>
                <a:schemeClr val="accent1">
                  <a:tint val="86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5-E2AF-A144-AD4A-3DE5B26DB47A}"/>
              </c:ext>
            </c:extLst>
          </c:dPt>
          <c:dPt>
            <c:idx val="3"/>
            <c:bubble3D val="0"/>
            <c:spPr>
              <a:solidFill>
                <a:schemeClr val="accent1">
                  <a:tint val="58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7-E2AF-A144-AD4A-3DE5B26DB47A}"/>
              </c:ext>
            </c:extLst>
          </c:dPt>
          <c:dLbls>
            <c:spPr>
              <a:solidFill>
                <a:prstClr val="white"/>
              </a:solidFill>
              <a:ln>
                <a:solidFill>
                  <a:prstClr val="black">
                    <a:lumMod val="25000"/>
                    <a:lumOff val="75000"/>
                  </a:prstClr>
                </a:solidFill>
              </a:ln>
              <a:effectLst/>
            </c:spPr>
            <c:txPr>
              <a:bodyPr rot="0" spcFirstLastPara="1" vertOverflow="clip" horzOverflow="clip"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Sheet1!$A$2:$A$5</c:f>
              <c:strCache>
                <c:ptCount val="2"/>
                <c:pt idx="0">
                  <c:v>Smoking</c:v>
                </c:pt>
                <c:pt idx="1">
                  <c:v>Drinking</c:v>
                </c:pt>
              </c:strCache>
            </c:strRef>
          </c:cat>
          <c:val>
            <c:numRef>
              <c:f>Sheet1!$B$2:$B$5</c:f>
              <c:numCache>
                <c:formatCode>General</c:formatCode>
                <c:ptCount val="4"/>
                <c:pt idx="0">
                  <c:v>2</c:v>
                </c:pt>
                <c:pt idx="1">
                  <c:v>5</c:v>
                </c:pt>
              </c:numCache>
            </c:numRef>
          </c:val>
          <c:extLst>
            <c:ext xmlns:c16="http://schemas.microsoft.com/office/drawing/2014/chart" uri="{C3380CC4-5D6E-409C-BE32-E72D297353CC}">
              <c16:uniqueId val="{00000000-1CBA-3440-9187-D7FE3FF7C324}"/>
            </c:ext>
          </c:extLst>
        </c:ser>
        <c:dLbls>
          <c:showLegendKey val="0"/>
          <c:showVal val="0"/>
          <c:showCatName val="0"/>
          <c:showSerName val="0"/>
          <c:showPercent val="0"/>
          <c:showBubbleSize val="0"/>
          <c:showLeaderLines val="0"/>
        </c:dLbls>
      </c:pie3DChart>
      <c:spPr>
        <a:noFill/>
        <a:ln>
          <a:noFill/>
        </a:ln>
        <a:effectLst/>
      </c:spPr>
    </c:plotArea>
    <c:legend>
      <c:legendPos val="b"/>
      <c:legendEntry>
        <c:idx val="3"/>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prstClr val="black">
          <a:lumMod val="25000"/>
          <a:lumOff val="75000"/>
        </a:prstClr>
      </a:solid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4">
  <a:schemeClr val="accent1"/>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withinLinearReversed" id="21">
  <a:schemeClr val="accent1"/>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withinLinear" id="14">
  <a:schemeClr val="accent1"/>
</cs:colorStyle>
</file>

<file path=ppt/charts/colors8.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53710C1-98D4-CA44-A3BB-AD47118050A7}" type="doc">
      <dgm:prSet loTypeId="urn:microsoft.com/office/officeart/2005/8/layout/arrow5" loCatId="" qsTypeId="urn:microsoft.com/office/officeart/2005/8/quickstyle/simple1" qsCatId="simple" csTypeId="urn:microsoft.com/office/officeart/2005/8/colors/accent1_2" csCatId="accent1" phldr="1"/>
      <dgm:spPr/>
      <dgm:t>
        <a:bodyPr/>
        <a:lstStyle/>
        <a:p>
          <a:endParaRPr lang="en-GB"/>
        </a:p>
      </dgm:t>
    </dgm:pt>
    <dgm:pt modelId="{06470E62-E690-6C40-BB2A-40AD8EBD779C}">
      <dgm:prSet phldrT="[Text]"/>
      <dgm:spPr/>
      <dgm:t>
        <a:bodyPr/>
        <a:lstStyle/>
        <a:p>
          <a:r>
            <a:rPr lang="en-GB" dirty="0"/>
            <a:t>461
273
144
137
56
17</a:t>
          </a:r>
        </a:p>
      </dgm:t>
    </dgm:pt>
    <dgm:pt modelId="{E080BD08-3C76-0D47-8D82-203712F2C1D5}" type="sibTrans" cxnId="{EA7C35F0-C135-9641-998A-95CE7B6BB934}">
      <dgm:prSet/>
      <dgm:spPr/>
      <dgm:t>
        <a:bodyPr/>
        <a:lstStyle/>
        <a:p>
          <a:endParaRPr lang="en-GB"/>
        </a:p>
      </dgm:t>
    </dgm:pt>
    <dgm:pt modelId="{4AF916D1-E089-4B4B-88BD-61109C06C531}" type="parTrans" cxnId="{EA7C35F0-C135-9641-998A-95CE7B6BB934}">
      <dgm:prSet/>
      <dgm:spPr/>
      <dgm:t>
        <a:bodyPr/>
        <a:lstStyle/>
        <a:p>
          <a:endParaRPr lang="en-GB"/>
        </a:p>
      </dgm:t>
    </dgm:pt>
    <dgm:pt modelId="{9E74AE17-586F-1945-AAB9-15A64C9A6C71}">
      <dgm:prSet phldrT="[Text]"/>
      <dgm:spPr/>
      <dgm:t>
        <a:bodyPr/>
        <a:lstStyle/>
        <a:p>
          <a:r>
            <a:rPr lang="en-GB" dirty="0"/>
            <a:t>ACK
BCC
NEV
SEK
SCC
MEL</a:t>
          </a:r>
        </a:p>
      </dgm:t>
    </dgm:pt>
    <dgm:pt modelId="{0F07C721-E3D1-1845-BCDF-454E3A2EEDF5}" type="sibTrans" cxnId="{E02AC61E-88DC-6F41-93D9-ADD5879C8909}">
      <dgm:prSet/>
      <dgm:spPr/>
      <dgm:t>
        <a:bodyPr/>
        <a:lstStyle/>
        <a:p>
          <a:endParaRPr lang="en-GB"/>
        </a:p>
      </dgm:t>
    </dgm:pt>
    <dgm:pt modelId="{9C4AA57D-D1D9-AC40-BD41-5EE3F79EFD97}" type="parTrans" cxnId="{E02AC61E-88DC-6F41-93D9-ADD5879C8909}">
      <dgm:prSet/>
      <dgm:spPr/>
      <dgm:t>
        <a:bodyPr/>
        <a:lstStyle/>
        <a:p>
          <a:endParaRPr lang="en-GB"/>
        </a:p>
      </dgm:t>
    </dgm:pt>
    <dgm:pt modelId="{C12FBF9F-E804-414C-8F0D-1230361ED7E6}" type="pres">
      <dgm:prSet presAssocID="{053710C1-98D4-CA44-A3BB-AD47118050A7}" presName="diagram" presStyleCnt="0">
        <dgm:presLayoutVars>
          <dgm:dir/>
          <dgm:resizeHandles val="exact"/>
        </dgm:presLayoutVars>
      </dgm:prSet>
      <dgm:spPr/>
    </dgm:pt>
    <dgm:pt modelId="{60F31745-F1C3-A04B-960B-70BAD16923FE}" type="pres">
      <dgm:prSet presAssocID="{9E74AE17-586F-1945-AAB9-15A64C9A6C71}" presName="arrow" presStyleLbl="node1" presStyleIdx="0" presStyleCnt="2">
        <dgm:presLayoutVars>
          <dgm:bulletEnabled val="1"/>
        </dgm:presLayoutVars>
      </dgm:prSet>
      <dgm:spPr/>
    </dgm:pt>
    <dgm:pt modelId="{5DFE7115-CFD3-9347-A2D4-50A9657B45BE}" type="pres">
      <dgm:prSet presAssocID="{06470E62-E690-6C40-BB2A-40AD8EBD779C}" presName="arrow" presStyleLbl="node1" presStyleIdx="1" presStyleCnt="2" custRadScaleRad="98654">
        <dgm:presLayoutVars>
          <dgm:bulletEnabled val="1"/>
        </dgm:presLayoutVars>
      </dgm:prSet>
      <dgm:spPr/>
    </dgm:pt>
  </dgm:ptLst>
  <dgm:cxnLst>
    <dgm:cxn modelId="{179D6D06-C134-DA4B-AFEF-D925DB17A747}" type="presOf" srcId="{9E74AE17-586F-1945-AAB9-15A64C9A6C71}" destId="{60F31745-F1C3-A04B-960B-70BAD16923FE}" srcOrd="0" destOrd="0" presId="urn:microsoft.com/office/officeart/2005/8/layout/arrow5"/>
    <dgm:cxn modelId="{3AE14319-C1F5-EB4C-9F60-51F76B459CD6}" type="presOf" srcId="{053710C1-98D4-CA44-A3BB-AD47118050A7}" destId="{C12FBF9F-E804-414C-8F0D-1230361ED7E6}" srcOrd="0" destOrd="0" presId="urn:microsoft.com/office/officeart/2005/8/layout/arrow5"/>
    <dgm:cxn modelId="{E02AC61E-88DC-6F41-93D9-ADD5879C8909}" srcId="{053710C1-98D4-CA44-A3BB-AD47118050A7}" destId="{9E74AE17-586F-1945-AAB9-15A64C9A6C71}" srcOrd="0" destOrd="0" parTransId="{9C4AA57D-D1D9-AC40-BD41-5EE3F79EFD97}" sibTransId="{0F07C721-E3D1-1845-BCDF-454E3A2EEDF5}"/>
    <dgm:cxn modelId="{D4481DE8-264E-C14D-B50D-D3E97C49D699}" type="presOf" srcId="{06470E62-E690-6C40-BB2A-40AD8EBD779C}" destId="{5DFE7115-CFD3-9347-A2D4-50A9657B45BE}" srcOrd="0" destOrd="0" presId="urn:microsoft.com/office/officeart/2005/8/layout/arrow5"/>
    <dgm:cxn modelId="{EA7C35F0-C135-9641-998A-95CE7B6BB934}" srcId="{053710C1-98D4-CA44-A3BB-AD47118050A7}" destId="{06470E62-E690-6C40-BB2A-40AD8EBD779C}" srcOrd="1" destOrd="0" parTransId="{4AF916D1-E089-4B4B-88BD-61109C06C531}" sibTransId="{E080BD08-3C76-0D47-8D82-203712F2C1D5}"/>
    <dgm:cxn modelId="{1E827839-F602-2D4A-B567-09936A36C699}" type="presParOf" srcId="{C12FBF9F-E804-414C-8F0D-1230361ED7E6}" destId="{60F31745-F1C3-A04B-960B-70BAD16923FE}" srcOrd="0" destOrd="0" presId="urn:microsoft.com/office/officeart/2005/8/layout/arrow5"/>
    <dgm:cxn modelId="{D90CBA63-952A-DA4D-A7D6-773F12806ECF}" type="presParOf" srcId="{C12FBF9F-E804-414C-8F0D-1230361ED7E6}" destId="{5DFE7115-CFD3-9347-A2D4-50A9657B45BE}" srcOrd="1" destOrd="0" presId="urn:microsoft.com/office/officeart/2005/8/layout/arrow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A242A07-9DB7-F64F-A2B5-BA96171934F4}" type="doc">
      <dgm:prSet loTypeId="urn:microsoft.com/office/officeart/2005/8/layout/venn2" loCatId="" qsTypeId="urn:microsoft.com/office/officeart/2005/8/quickstyle/simple1" qsCatId="simple" csTypeId="urn:microsoft.com/office/officeart/2005/8/colors/accent1_2" csCatId="accent1" phldr="1"/>
      <dgm:spPr/>
      <dgm:t>
        <a:bodyPr/>
        <a:lstStyle/>
        <a:p>
          <a:endParaRPr lang="en-GB"/>
        </a:p>
      </dgm:t>
    </dgm:pt>
    <dgm:pt modelId="{DB26F409-1335-C44A-987D-D84512AC5090}">
      <dgm:prSet phldrT="[Text]" custT="1"/>
      <dgm:spPr/>
      <dgm:t>
        <a:bodyPr/>
        <a:lstStyle/>
        <a:p>
          <a:r>
            <a:rPr lang="en-GB" sz="1800" dirty="0"/>
            <a:t>Smokers </a:t>
          </a:r>
          <a:r>
            <a:rPr lang="en-GB" sz="2000" b="1" dirty="0"/>
            <a:t>138</a:t>
          </a:r>
        </a:p>
      </dgm:t>
    </dgm:pt>
    <dgm:pt modelId="{BD57F0DD-4C93-E842-840A-B1D342330FDF}" type="parTrans" cxnId="{9085129A-7F5C-BA42-AA9D-219B442A3550}">
      <dgm:prSet/>
      <dgm:spPr/>
      <dgm:t>
        <a:bodyPr/>
        <a:lstStyle/>
        <a:p>
          <a:endParaRPr lang="en-GB"/>
        </a:p>
      </dgm:t>
    </dgm:pt>
    <dgm:pt modelId="{4874C05A-24B9-624F-A615-0B764F4BE50D}" type="sibTrans" cxnId="{9085129A-7F5C-BA42-AA9D-219B442A3550}">
      <dgm:prSet/>
      <dgm:spPr/>
      <dgm:t>
        <a:bodyPr/>
        <a:lstStyle/>
        <a:p>
          <a:endParaRPr lang="en-GB"/>
        </a:p>
      </dgm:t>
    </dgm:pt>
    <dgm:pt modelId="{6AB901DF-1D9D-9F4C-BAE8-30B58CF2C9EC}">
      <dgm:prSet phldrT="[Text]" custT="1"/>
      <dgm:spPr/>
      <dgm:t>
        <a:bodyPr/>
        <a:lstStyle/>
        <a:p>
          <a:r>
            <a:rPr lang="en-GB" sz="1400" dirty="0"/>
            <a:t>Percentage who smoke and drink </a:t>
          </a:r>
        </a:p>
        <a:p>
          <a:endParaRPr lang="en-GB" sz="1800" dirty="0"/>
        </a:p>
        <a:p>
          <a:r>
            <a:rPr lang="en-GB" sz="2000" b="1" dirty="0"/>
            <a:t>45%</a:t>
          </a:r>
        </a:p>
      </dgm:t>
    </dgm:pt>
    <dgm:pt modelId="{140841FC-9D03-9246-8B04-6AF1907BCC9D}" type="parTrans" cxnId="{3897718B-0ED0-2A4B-BE1B-A77EB8FA86F6}">
      <dgm:prSet/>
      <dgm:spPr/>
      <dgm:t>
        <a:bodyPr/>
        <a:lstStyle/>
        <a:p>
          <a:endParaRPr lang="en-GB"/>
        </a:p>
      </dgm:t>
    </dgm:pt>
    <dgm:pt modelId="{87CA7571-34A5-054B-B946-70C6C3BDC26C}" type="sibTrans" cxnId="{3897718B-0ED0-2A4B-BE1B-A77EB8FA86F6}">
      <dgm:prSet/>
      <dgm:spPr/>
      <dgm:t>
        <a:bodyPr/>
        <a:lstStyle/>
        <a:p>
          <a:endParaRPr lang="en-GB"/>
        </a:p>
      </dgm:t>
    </dgm:pt>
    <dgm:pt modelId="{EDB2528D-DD19-3C4D-A521-3AF02FF19D21}">
      <dgm:prSet phldrT="[Text]" custT="1"/>
      <dgm:spPr/>
      <dgm:t>
        <a:bodyPr/>
        <a:lstStyle/>
        <a:p>
          <a:r>
            <a:rPr lang="en-GB" sz="1800" dirty="0"/>
            <a:t>Drinkers   </a:t>
          </a:r>
          <a:r>
            <a:rPr lang="en-GB" sz="2000" b="1" dirty="0"/>
            <a:t>62</a:t>
          </a:r>
        </a:p>
      </dgm:t>
    </dgm:pt>
    <dgm:pt modelId="{30C16B82-3DDD-FC46-8D61-00B8BB7A2FDD}" type="sibTrans" cxnId="{B95A5B15-30C3-5746-BE2E-BE8C24ADC8D8}">
      <dgm:prSet/>
      <dgm:spPr/>
      <dgm:t>
        <a:bodyPr/>
        <a:lstStyle/>
        <a:p>
          <a:endParaRPr lang="en-GB"/>
        </a:p>
      </dgm:t>
    </dgm:pt>
    <dgm:pt modelId="{7971740E-DD59-3149-91C6-20E31A8FA2ED}" type="parTrans" cxnId="{B95A5B15-30C3-5746-BE2E-BE8C24ADC8D8}">
      <dgm:prSet/>
      <dgm:spPr/>
      <dgm:t>
        <a:bodyPr/>
        <a:lstStyle/>
        <a:p>
          <a:endParaRPr lang="en-GB"/>
        </a:p>
      </dgm:t>
    </dgm:pt>
    <dgm:pt modelId="{6ED060F7-73C7-8341-91D1-7D2A4AC4FFCD}" type="pres">
      <dgm:prSet presAssocID="{AA242A07-9DB7-F64F-A2B5-BA96171934F4}" presName="Name0" presStyleCnt="0">
        <dgm:presLayoutVars>
          <dgm:chMax val="7"/>
          <dgm:resizeHandles val="exact"/>
        </dgm:presLayoutVars>
      </dgm:prSet>
      <dgm:spPr/>
    </dgm:pt>
    <dgm:pt modelId="{001E8A4E-1697-614F-B6EA-8D9A062A5634}" type="pres">
      <dgm:prSet presAssocID="{AA242A07-9DB7-F64F-A2B5-BA96171934F4}" presName="comp1" presStyleCnt="0"/>
      <dgm:spPr/>
    </dgm:pt>
    <dgm:pt modelId="{FDC1FB62-9428-654F-862D-8F696E2C0EC5}" type="pres">
      <dgm:prSet presAssocID="{AA242A07-9DB7-F64F-A2B5-BA96171934F4}" presName="circle1" presStyleLbl="node1" presStyleIdx="0" presStyleCnt="3"/>
      <dgm:spPr/>
    </dgm:pt>
    <dgm:pt modelId="{BE671564-76A9-5844-A6E5-54AEF15BE032}" type="pres">
      <dgm:prSet presAssocID="{AA242A07-9DB7-F64F-A2B5-BA96171934F4}" presName="c1text" presStyleLbl="node1" presStyleIdx="0" presStyleCnt="3">
        <dgm:presLayoutVars>
          <dgm:bulletEnabled val="1"/>
        </dgm:presLayoutVars>
      </dgm:prSet>
      <dgm:spPr/>
    </dgm:pt>
    <dgm:pt modelId="{2A291C6B-42BA-4C4A-8966-65917B37F45A}" type="pres">
      <dgm:prSet presAssocID="{AA242A07-9DB7-F64F-A2B5-BA96171934F4}" presName="comp2" presStyleCnt="0"/>
      <dgm:spPr/>
    </dgm:pt>
    <dgm:pt modelId="{2CCAF75D-2238-D446-8808-9DD682CA1BBE}" type="pres">
      <dgm:prSet presAssocID="{AA242A07-9DB7-F64F-A2B5-BA96171934F4}" presName="circle2" presStyleLbl="node1" presStyleIdx="1" presStyleCnt="3" custLinFactNeighborX="0" custLinFactNeighborY="-2340"/>
      <dgm:spPr/>
    </dgm:pt>
    <dgm:pt modelId="{32CCCD49-E5BD-B04A-960A-94D41E6A4E9B}" type="pres">
      <dgm:prSet presAssocID="{AA242A07-9DB7-F64F-A2B5-BA96171934F4}" presName="c2text" presStyleLbl="node1" presStyleIdx="1" presStyleCnt="3">
        <dgm:presLayoutVars>
          <dgm:bulletEnabled val="1"/>
        </dgm:presLayoutVars>
      </dgm:prSet>
      <dgm:spPr/>
    </dgm:pt>
    <dgm:pt modelId="{C4B2801E-60CA-CA43-9927-34D2FA97864E}" type="pres">
      <dgm:prSet presAssocID="{AA242A07-9DB7-F64F-A2B5-BA96171934F4}" presName="comp3" presStyleCnt="0"/>
      <dgm:spPr/>
    </dgm:pt>
    <dgm:pt modelId="{BDD826BA-BEF3-6641-B5FE-EAFFD64772CF}" type="pres">
      <dgm:prSet presAssocID="{AA242A07-9DB7-F64F-A2B5-BA96171934F4}" presName="circle3" presStyleLbl="node1" presStyleIdx="2" presStyleCnt="3" custLinFactNeighborY="-4656"/>
      <dgm:spPr/>
    </dgm:pt>
    <dgm:pt modelId="{B30D4BF6-F8E1-554D-9019-9735459AB0AD}" type="pres">
      <dgm:prSet presAssocID="{AA242A07-9DB7-F64F-A2B5-BA96171934F4}" presName="c3text" presStyleLbl="node1" presStyleIdx="2" presStyleCnt="3">
        <dgm:presLayoutVars>
          <dgm:bulletEnabled val="1"/>
        </dgm:presLayoutVars>
      </dgm:prSet>
      <dgm:spPr/>
    </dgm:pt>
  </dgm:ptLst>
  <dgm:cxnLst>
    <dgm:cxn modelId="{4E6A3A0E-9B32-E444-A982-44A62BB15B6E}" type="presOf" srcId="{EDB2528D-DD19-3C4D-A521-3AF02FF19D21}" destId="{2CCAF75D-2238-D446-8808-9DD682CA1BBE}" srcOrd="0" destOrd="0" presId="urn:microsoft.com/office/officeart/2005/8/layout/venn2"/>
    <dgm:cxn modelId="{B95A5B15-30C3-5746-BE2E-BE8C24ADC8D8}" srcId="{AA242A07-9DB7-F64F-A2B5-BA96171934F4}" destId="{EDB2528D-DD19-3C4D-A521-3AF02FF19D21}" srcOrd="1" destOrd="0" parTransId="{7971740E-DD59-3149-91C6-20E31A8FA2ED}" sibTransId="{30C16B82-3DDD-FC46-8D61-00B8BB7A2FDD}"/>
    <dgm:cxn modelId="{04F2EA42-4CDD-134A-96A7-4291BB7D0CA4}" type="presOf" srcId="{DB26F409-1335-C44A-987D-D84512AC5090}" destId="{FDC1FB62-9428-654F-862D-8F696E2C0EC5}" srcOrd="0" destOrd="0" presId="urn:microsoft.com/office/officeart/2005/8/layout/venn2"/>
    <dgm:cxn modelId="{ECEAC85B-3AD3-FD4F-A345-3B32B4295341}" type="presOf" srcId="{AA242A07-9DB7-F64F-A2B5-BA96171934F4}" destId="{6ED060F7-73C7-8341-91D1-7D2A4AC4FFCD}" srcOrd="0" destOrd="0" presId="urn:microsoft.com/office/officeart/2005/8/layout/venn2"/>
    <dgm:cxn modelId="{56758F5C-09EF-7043-BA4D-D535625DEE3D}" type="presOf" srcId="{EDB2528D-DD19-3C4D-A521-3AF02FF19D21}" destId="{32CCCD49-E5BD-B04A-960A-94D41E6A4E9B}" srcOrd="1" destOrd="0" presId="urn:microsoft.com/office/officeart/2005/8/layout/venn2"/>
    <dgm:cxn modelId="{3897718B-0ED0-2A4B-BE1B-A77EB8FA86F6}" srcId="{AA242A07-9DB7-F64F-A2B5-BA96171934F4}" destId="{6AB901DF-1D9D-9F4C-BAE8-30B58CF2C9EC}" srcOrd="2" destOrd="0" parTransId="{140841FC-9D03-9246-8B04-6AF1907BCC9D}" sibTransId="{87CA7571-34A5-054B-B946-70C6C3BDC26C}"/>
    <dgm:cxn modelId="{9085129A-7F5C-BA42-AA9D-219B442A3550}" srcId="{AA242A07-9DB7-F64F-A2B5-BA96171934F4}" destId="{DB26F409-1335-C44A-987D-D84512AC5090}" srcOrd="0" destOrd="0" parTransId="{BD57F0DD-4C93-E842-840A-B1D342330FDF}" sibTransId="{4874C05A-24B9-624F-A615-0B764F4BE50D}"/>
    <dgm:cxn modelId="{3B1BACC2-BBC4-CA47-9852-220940C1E86C}" type="presOf" srcId="{DB26F409-1335-C44A-987D-D84512AC5090}" destId="{BE671564-76A9-5844-A6E5-54AEF15BE032}" srcOrd="1" destOrd="0" presId="urn:microsoft.com/office/officeart/2005/8/layout/venn2"/>
    <dgm:cxn modelId="{097A0BCA-FC16-9145-B98B-AF18803DBD8D}" type="presOf" srcId="{6AB901DF-1D9D-9F4C-BAE8-30B58CF2C9EC}" destId="{B30D4BF6-F8E1-554D-9019-9735459AB0AD}" srcOrd="1" destOrd="0" presId="urn:microsoft.com/office/officeart/2005/8/layout/venn2"/>
    <dgm:cxn modelId="{6EBA74ED-0BA6-6B45-8C1C-E6074C789E2A}" type="presOf" srcId="{6AB901DF-1D9D-9F4C-BAE8-30B58CF2C9EC}" destId="{BDD826BA-BEF3-6641-B5FE-EAFFD64772CF}" srcOrd="0" destOrd="0" presId="urn:microsoft.com/office/officeart/2005/8/layout/venn2"/>
    <dgm:cxn modelId="{25287014-0656-DE41-A5BC-613BCA3C4144}" type="presParOf" srcId="{6ED060F7-73C7-8341-91D1-7D2A4AC4FFCD}" destId="{001E8A4E-1697-614F-B6EA-8D9A062A5634}" srcOrd="0" destOrd="0" presId="urn:microsoft.com/office/officeart/2005/8/layout/venn2"/>
    <dgm:cxn modelId="{1C9A9486-5EB4-AB4A-981D-52E707D3FB23}" type="presParOf" srcId="{001E8A4E-1697-614F-B6EA-8D9A062A5634}" destId="{FDC1FB62-9428-654F-862D-8F696E2C0EC5}" srcOrd="0" destOrd="0" presId="urn:microsoft.com/office/officeart/2005/8/layout/venn2"/>
    <dgm:cxn modelId="{9D43FFAA-2361-764C-A66C-58012B681AF8}" type="presParOf" srcId="{001E8A4E-1697-614F-B6EA-8D9A062A5634}" destId="{BE671564-76A9-5844-A6E5-54AEF15BE032}" srcOrd="1" destOrd="0" presId="urn:microsoft.com/office/officeart/2005/8/layout/venn2"/>
    <dgm:cxn modelId="{CD44EF62-5D0B-EA4B-AC62-27F52DB2CB1A}" type="presParOf" srcId="{6ED060F7-73C7-8341-91D1-7D2A4AC4FFCD}" destId="{2A291C6B-42BA-4C4A-8966-65917B37F45A}" srcOrd="1" destOrd="0" presId="urn:microsoft.com/office/officeart/2005/8/layout/venn2"/>
    <dgm:cxn modelId="{1226D725-BFCF-BC42-AAEC-1C7542CB85DD}" type="presParOf" srcId="{2A291C6B-42BA-4C4A-8966-65917B37F45A}" destId="{2CCAF75D-2238-D446-8808-9DD682CA1BBE}" srcOrd="0" destOrd="0" presId="urn:microsoft.com/office/officeart/2005/8/layout/venn2"/>
    <dgm:cxn modelId="{3DF72073-0FE2-AA40-9BD8-B684FDFDD666}" type="presParOf" srcId="{2A291C6B-42BA-4C4A-8966-65917B37F45A}" destId="{32CCCD49-E5BD-B04A-960A-94D41E6A4E9B}" srcOrd="1" destOrd="0" presId="urn:microsoft.com/office/officeart/2005/8/layout/venn2"/>
    <dgm:cxn modelId="{18193E34-7282-3C4E-9E7A-7B0CB77D9438}" type="presParOf" srcId="{6ED060F7-73C7-8341-91D1-7D2A4AC4FFCD}" destId="{C4B2801E-60CA-CA43-9927-34D2FA97864E}" srcOrd="2" destOrd="0" presId="urn:microsoft.com/office/officeart/2005/8/layout/venn2"/>
    <dgm:cxn modelId="{D36D8D37-6BF6-314F-8EC3-209222406B56}" type="presParOf" srcId="{C4B2801E-60CA-CA43-9927-34D2FA97864E}" destId="{BDD826BA-BEF3-6641-B5FE-EAFFD64772CF}" srcOrd="0" destOrd="0" presId="urn:microsoft.com/office/officeart/2005/8/layout/venn2"/>
    <dgm:cxn modelId="{76F1C042-77B2-2743-8C58-CD72B86277F6}" type="presParOf" srcId="{C4B2801E-60CA-CA43-9927-34D2FA97864E}" destId="{B30D4BF6-F8E1-554D-9019-9735459AB0AD}" srcOrd="1" destOrd="0" presId="urn:microsoft.com/office/officeart/2005/8/layout/venn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F31745-F1C3-A04B-960B-70BAD16923FE}">
      <dsp:nvSpPr>
        <dsp:cNvPr id="0" name=""/>
        <dsp:cNvSpPr/>
      </dsp:nvSpPr>
      <dsp:spPr>
        <a:xfrm rot="16200000">
          <a:off x="398" y="286053"/>
          <a:ext cx="2755797" cy="2755797"/>
        </a:xfrm>
        <a:prstGeom prst="downArrow">
          <a:avLst>
            <a:gd name="adj1" fmla="val 50000"/>
            <a:gd name="adj2" fmla="val 35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GB" sz="1100" kern="1200" dirty="0"/>
            <a:t>ACK
BCC
NEV
SEK
SCC
MEL</a:t>
          </a:r>
        </a:p>
      </dsp:txBody>
      <dsp:txXfrm rot="5400000">
        <a:off x="398" y="975002"/>
        <a:ext cx="2273533" cy="1377899"/>
      </dsp:txXfrm>
    </dsp:sp>
    <dsp:sp modelId="{5DFE7115-CFD3-9347-A2D4-50A9657B45BE}">
      <dsp:nvSpPr>
        <dsp:cNvPr id="0" name=""/>
        <dsp:cNvSpPr/>
      </dsp:nvSpPr>
      <dsp:spPr>
        <a:xfrm rot="5400000">
          <a:off x="2902083" y="286053"/>
          <a:ext cx="2755797" cy="2755797"/>
        </a:xfrm>
        <a:prstGeom prst="downArrow">
          <a:avLst>
            <a:gd name="adj1" fmla="val 50000"/>
            <a:gd name="adj2" fmla="val 35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GB" sz="1100" kern="1200" dirty="0"/>
            <a:t>461
273
144
137
56
17</a:t>
          </a:r>
        </a:p>
      </dsp:txBody>
      <dsp:txXfrm rot="-5400000">
        <a:off x="3384347" y="975002"/>
        <a:ext cx="2273533" cy="13778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C1FB62-9428-654F-862D-8F696E2C0EC5}">
      <dsp:nvSpPr>
        <dsp:cNvPr id="0" name=""/>
        <dsp:cNvSpPr/>
      </dsp:nvSpPr>
      <dsp:spPr>
        <a:xfrm>
          <a:off x="444285" y="0"/>
          <a:ext cx="3327904" cy="3327904"/>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GB" sz="1800" kern="1200" dirty="0"/>
            <a:t>Smokers </a:t>
          </a:r>
          <a:r>
            <a:rPr lang="en-GB" sz="2000" b="1" kern="1200" dirty="0"/>
            <a:t>138</a:t>
          </a:r>
        </a:p>
      </dsp:txBody>
      <dsp:txXfrm>
        <a:off x="1526686" y="166395"/>
        <a:ext cx="1163102" cy="499185"/>
      </dsp:txXfrm>
    </dsp:sp>
    <dsp:sp modelId="{2CCAF75D-2238-D446-8808-9DD682CA1BBE}">
      <dsp:nvSpPr>
        <dsp:cNvPr id="0" name=""/>
        <dsp:cNvSpPr/>
      </dsp:nvSpPr>
      <dsp:spPr>
        <a:xfrm>
          <a:off x="860273" y="773571"/>
          <a:ext cx="2495928" cy="2495928"/>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GB" sz="1800" kern="1200" dirty="0"/>
            <a:t>Drinkers   </a:t>
          </a:r>
          <a:r>
            <a:rPr lang="en-GB" sz="2000" b="1" kern="1200" dirty="0"/>
            <a:t>62</a:t>
          </a:r>
        </a:p>
      </dsp:txBody>
      <dsp:txXfrm>
        <a:off x="1526686" y="929566"/>
        <a:ext cx="1163102" cy="467986"/>
      </dsp:txXfrm>
    </dsp:sp>
    <dsp:sp modelId="{BDD826BA-BEF3-6641-B5FE-EAFFD64772CF}">
      <dsp:nvSpPr>
        <dsp:cNvPr id="0" name=""/>
        <dsp:cNvSpPr/>
      </dsp:nvSpPr>
      <dsp:spPr>
        <a:xfrm>
          <a:off x="1276261" y="1586478"/>
          <a:ext cx="1663952" cy="1663952"/>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GB" sz="1400" kern="1200" dirty="0"/>
            <a:t>Percentage who smoke and drink </a:t>
          </a:r>
        </a:p>
        <a:p>
          <a:pPr marL="0" lvl="0" indent="0" algn="ctr" defTabSz="622300">
            <a:lnSpc>
              <a:spcPct val="90000"/>
            </a:lnSpc>
            <a:spcBef>
              <a:spcPct val="0"/>
            </a:spcBef>
            <a:spcAft>
              <a:spcPct val="35000"/>
            </a:spcAft>
            <a:buNone/>
          </a:pPr>
          <a:endParaRPr lang="en-GB" sz="1800" kern="1200" dirty="0"/>
        </a:p>
        <a:p>
          <a:pPr marL="0" lvl="0" indent="0" algn="ctr" defTabSz="622300">
            <a:lnSpc>
              <a:spcPct val="90000"/>
            </a:lnSpc>
            <a:spcBef>
              <a:spcPct val="0"/>
            </a:spcBef>
            <a:spcAft>
              <a:spcPct val="35000"/>
            </a:spcAft>
            <a:buNone/>
          </a:pPr>
          <a:r>
            <a:rPr lang="en-GB" sz="2000" b="1" kern="1200" dirty="0"/>
            <a:t>45%</a:t>
          </a:r>
        </a:p>
      </dsp:txBody>
      <dsp:txXfrm>
        <a:off x="1519941" y="2002466"/>
        <a:ext cx="1176591" cy="831976"/>
      </dsp:txXfrm>
    </dsp:sp>
  </dsp:spTree>
</dsp:drawing>
</file>

<file path=ppt/diagrams/layout1.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F1D58-25FA-580B-502A-B48BA27B25DB}"/>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77C746B8-6E85-A9E1-C479-8357772AF7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ABF4F2F-0A89-84F3-EDEC-5B4600998FF8}"/>
              </a:ext>
            </a:extLst>
          </p:cNvPr>
          <p:cNvSpPr>
            <a:spLocks noGrp="1"/>
          </p:cNvSpPr>
          <p:nvPr>
            <p:ph type="dt" sz="half" idx="10"/>
          </p:nvPr>
        </p:nvSpPr>
        <p:spPr/>
        <p:txBody>
          <a:bodyPr/>
          <a:lstStyle/>
          <a:p>
            <a:fld id="{637193FD-AEC5-0B48-8731-2CF9BDB067EA}" type="datetimeFigureOut">
              <a:rPr lang="en-US" smtClean="0"/>
              <a:t>7/5/26</a:t>
            </a:fld>
            <a:endParaRPr lang="en-US"/>
          </a:p>
        </p:txBody>
      </p:sp>
      <p:sp>
        <p:nvSpPr>
          <p:cNvPr id="5" name="Footer Placeholder 4">
            <a:extLst>
              <a:ext uri="{FF2B5EF4-FFF2-40B4-BE49-F238E27FC236}">
                <a16:creationId xmlns:a16="http://schemas.microsoft.com/office/drawing/2014/main" id="{A7CDC091-BA8D-B20B-F2DC-3BCD346F8B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FF99B4-D620-4C2D-FA57-4788452F8980}"/>
              </a:ext>
            </a:extLst>
          </p:cNvPr>
          <p:cNvSpPr>
            <a:spLocks noGrp="1"/>
          </p:cNvSpPr>
          <p:nvPr>
            <p:ph type="sldNum" sz="quarter" idx="12"/>
          </p:nvPr>
        </p:nvSpPr>
        <p:spPr/>
        <p:txBody>
          <a:bodyPr/>
          <a:lstStyle/>
          <a:p>
            <a:fld id="{24C21AD7-F27C-C44C-B050-CDB1AE514627}" type="slidenum">
              <a:rPr lang="en-US" smtClean="0"/>
              <a:t>‹#›</a:t>
            </a:fld>
            <a:endParaRPr lang="en-US"/>
          </a:p>
        </p:txBody>
      </p:sp>
    </p:spTree>
    <p:extLst>
      <p:ext uri="{BB962C8B-B14F-4D97-AF65-F5344CB8AC3E}">
        <p14:creationId xmlns:p14="http://schemas.microsoft.com/office/powerpoint/2010/main" val="2005003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A94ED-AE8E-DF81-E624-DC60A961A49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F34C87E-730B-FD73-B8FE-F6DB82F2057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699DADF-25F9-428A-6E79-A69277E730C0}"/>
              </a:ext>
            </a:extLst>
          </p:cNvPr>
          <p:cNvSpPr>
            <a:spLocks noGrp="1"/>
          </p:cNvSpPr>
          <p:nvPr>
            <p:ph type="dt" sz="half" idx="10"/>
          </p:nvPr>
        </p:nvSpPr>
        <p:spPr/>
        <p:txBody>
          <a:bodyPr/>
          <a:lstStyle/>
          <a:p>
            <a:fld id="{637193FD-AEC5-0B48-8731-2CF9BDB067EA}" type="datetimeFigureOut">
              <a:rPr lang="en-US" smtClean="0"/>
              <a:t>7/5/26</a:t>
            </a:fld>
            <a:endParaRPr lang="en-US"/>
          </a:p>
        </p:txBody>
      </p:sp>
      <p:sp>
        <p:nvSpPr>
          <p:cNvPr id="5" name="Footer Placeholder 4">
            <a:extLst>
              <a:ext uri="{FF2B5EF4-FFF2-40B4-BE49-F238E27FC236}">
                <a16:creationId xmlns:a16="http://schemas.microsoft.com/office/drawing/2014/main" id="{D1897D5E-3804-A5A7-53DA-11BD0F24C8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573C80-F0F8-05EE-1FAF-939F5AE70955}"/>
              </a:ext>
            </a:extLst>
          </p:cNvPr>
          <p:cNvSpPr>
            <a:spLocks noGrp="1"/>
          </p:cNvSpPr>
          <p:nvPr>
            <p:ph type="sldNum" sz="quarter" idx="12"/>
          </p:nvPr>
        </p:nvSpPr>
        <p:spPr/>
        <p:txBody>
          <a:bodyPr/>
          <a:lstStyle/>
          <a:p>
            <a:fld id="{24C21AD7-F27C-C44C-B050-CDB1AE514627}" type="slidenum">
              <a:rPr lang="en-US" smtClean="0"/>
              <a:t>‹#›</a:t>
            </a:fld>
            <a:endParaRPr lang="en-US"/>
          </a:p>
        </p:txBody>
      </p:sp>
    </p:spTree>
    <p:extLst>
      <p:ext uri="{BB962C8B-B14F-4D97-AF65-F5344CB8AC3E}">
        <p14:creationId xmlns:p14="http://schemas.microsoft.com/office/powerpoint/2010/main" val="1812096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02D54-5C4D-6DDD-ED56-3FCDD898F5D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4628A59-89B7-44C2-2E27-0E13A3C8B6C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72FBE26-90F2-0853-9727-429A030A02A4}"/>
              </a:ext>
            </a:extLst>
          </p:cNvPr>
          <p:cNvSpPr>
            <a:spLocks noGrp="1"/>
          </p:cNvSpPr>
          <p:nvPr>
            <p:ph type="dt" sz="half" idx="10"/>
          </p:nvPr>
        </p:nvSpPr>
        <p:spPr/>
        <p:txBody>
          <a:bodyPr/>
          <a:lstStyle/>
          <a:p>
            <a:fld id="{637193FD-AEC5-0B48-8731-2CF9BDB067EA}" type="datetimeFigureOut">
              <a:rPr lang="en-US" smtClean="0"/>
              <a:t>7/5/26</a:t>
            </a:fld>
            <a:endParaRPr lang="en-US"/>
          </a:p>
        </p:txBody>
      </p:sp>
      <p:sp>
        <p:nvSpPr>
          <p:cNvPr id="5" name="Footer Placeholder 4">
            <a:extLst>
              <a:ext uri="{FF2B5EF4-FFF2-40B4-BE49-F238E27FC236}">
                <a16:creationId xmlns:a16="http://schemas.microsoft.com/office/drawing/2014/main" id="{CF5F0D34-109D-8F0F-5AA0-78EF12044C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25D749-D640-DA6B-3CDE-0DBDF8572694}"/>
              </a:ext>
            </a:extLst>
          </p:cNvPr>
          <p:cNvSpPr>
            <a:spLocks noGrp="1"/>
          </p:cNvSpPr>
          <p:nvPr>
            <p:ph type="sldNum" sz="quarter" idx="12"/>
          </p:nvPr>
        </p:nvSpPr>
        <p:spPr/>
        <p:txBody>
          <a:bodyPr/>
          <a:lstStyle/>
          <a:p>
            <a:fld id="{24C21AD7-F27C-C44C-B050-CDB1AE514627}" type="slidenum">
              <a:rPr lang="en-US" smtClean="0"/>
              <a:t>‹#›</a:t>
            </a:fld>
            <a:endParaRPr lang="en-US"/>
          </a:p>
        </p:txBody>
      </p:sp>
    </p:spTree>
    <p:extLst>
      <p:ext uri="{BB962C8B-B14F-4D97-AF65-F5344CB8AC3E}">
        <p14:creationId xmlns:p14="http://schemas.microsoft.com/office/powerpoint/2010/main" val="2251066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7D204-A64D-3A42-88AD-207E9227A4A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8EEE0CC-592C-4EC1-1058-CD05FF699B9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927AB24D-C10F-B615-0AD3-993BA35D9F9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51B2068-6A27-463F-E4FA-2B0714453245}"/>
              </a:ext>
            </a:extLst>
          </p:cNvPr>
          <p:cNvSpPr>
            <a:spLocks noGrp="1"/>
          </p:cNvSpPr>
          <p:nvPr>
            <p:ph type="dt" sz="half" idx="10"/>
          </p:nvPr>
        </p:nvSpPr>
        <p:spPr/>
        <p:txBody>
          <a:bodyPr/>
          <a:lstStyle/>
          <a:p>
            <a:fld id="{637193FD-AEC5-0B48-8731-2CF9BDB067EA}" type="datetimeFigureOut">
              <a:rPr lang="en-US" smtClean="0"/>
              <a:t>7/5/26</a:t>
            </a:fld>
            <a:endParaRPr lang="en-US"/>
          </a:p>
        </p:txBody>
      </p:sp>
      <p:sp>
        <p:nvSpPr>
          <p:cNvPr id="6" name="Footer Placeholder 5">
            <a:extLst>
              <a:ext uri="{FF2B5EF4-FFF2-40B4-BE49-F238E27FC236}">
                <a16:creationId xmlns:a16="http://schemas.microsoft.com/office/drawing/2014/main" id="{A2AFE506-66EE-E85C-44FE-7F6789CE95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D74B66-6DD8-A599-DC65-A2A7C08DEBA2}"/>
              </a:ext>
            </a:extLst>
          </p:cNvPr>
          <p:cNvSpPr>
            <a:spLocks noGrp="1"/>
          </p:cNvSpPr>
          <p:nvPr>
            <p:ph type="sldNum" sz="quarter" idx="12"/>
          </p:nvPr>
        </p:nvSpPr>
        <p:spPr/>
        <p:txBody>
          <a:bodyPr/>
          <a:lstStyle/>
          <a:p>
            <a:fld id="{24C21AD7-F27C-C44C-B050-CDB1AE514627}" type="slidenum">
              <a:rPr lang="en-US" smtClean="0"/>
              <a:t>‹#›</a:t>
            </a:fld>
            <a:endParaRPr lang="en-US"/>
          </a:p>
        </p:txBody>
      </p:sp>
    </p:spTree>
    <p:extLst>
      <p:ext uri="{BB962C8B-B14F-4D97-AF65-F5344CB8AC3E}">
        <p14:creationId xmlns:p14="http://schemas.microsoft.com/office/powerpoint/2010/main" val="1322354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BD15F-5D4B-62A5-2A34-34085436EFE4}"/>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532457C-3FF7-DFBC-A35C-FDD05E7366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7F08EC1-5ECC-C442-878F-5E48B4D9A3A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256BF70F-ABC3-6EDA-120C-2A73B996C6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B9681AB-0128-43F5-DDA8-57FF5364848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CA47A8B5-88A4-E1C4-03FF-ADF110393DD7}"/>
              </a:ext>
            </a:extLst>
          </p:cNvPr>
          <p:cNvSpPr>
            <a:spLocks noGrp="1"/>
          </p:cNvSpPr>
          <p:nvPr>
            <p:ph type="dt" sz="half" idx="10"/>
          </p:nvPr>
        </p:nvSpPr>
        <p:spPr/>
        <p:txBody>
          <a:bodyPr/>
          <a:lstStyle/>
          <a:p>
            <a:fld id="{637193FD-AEC5-0B48-8731-2CF9BDB067EA}" type="datetimeFigureOut">
              <a:rPr lang="en-US" smtClean="0"/>
              <a:t>7/5/26</a:t>
            </a:fld>
            <a:endParaRPr lang="en-US"/>
          </a:p>
        </p:txBody>
      </p:sp>
      <p:sp>
        <p:nvSpPr>
          <p:cNvPr id="8" name="Footer Placeholder 7">
            <a:extLst>
              <a:ext uri="{FF2B5EF4-FFF2-40B4-BE49-F238E27FC236}">
                <a16:creationId xmlns:a16="http://schemas.microsoft.com/office/drawing/2014/main" id="{50EB130A-CD59-A223-A48F-CA279C97FC6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0C8B34B-9168-90E5-B05C-50AD45ED9038}"/>
              </a:ext>
            </a:extLst>
          </p:cNvPr>
          <p:cNvSpPr>
            <a:spLocks noGrp="1"/>
          </p:cNvSpPr>
          <p:nvPr>
            <p:ph type="sldNum" sz="quarter" idx="12"/>
          </p:nvPr>
        </p:nvSpPr>
        <p:spPr/>
        <p:txBody>
          <a:bodyPr/>
          <a:lstStyle/>
          <a:p>
            <a:fld id="{24C21AD7-F27C-C44C-B050-CDB1AE514627}" type="slidenum">
              <a:rPr lang="en-US" smtClean="0"/>
              <a:t>‹#›</a:t>
            </a:fld>
            <a:endParaRPr lang="en-US"/>
          </a:p>
        </p:txBody>
      </p:sp>
    </p:spTree>
    <p:extLst>
      <p:ext uri="{BB962C8B-B14F-4D97-AF65-F5344CB8AC3E}">
        <p14:creationId xmlns:p14="http://schemas.microsoft.com/office/powerpoint/2010/main" val="22799903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1C981-FF59-24F3-F588-663957D0FE5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43A2B606-D1EA-6CB8-A37C-A8F9A3003116}"/>
              </a:ext>
            </a:extLst>
          </p:cNvPr>
          <p:cNvSpPr>
            <a:spLocks noGrp="1"/>
          </p:cNvSpPr>
          <p:nvPr>
            <p:ph type="dt" sz="half" idx="10"/>
          </p:nvPr>
        </p:nvSpPr>
        <p:spPr/>
        <p:txBody>
          <a:bodyPr/>
          <a:lstStyle/>
          <a:p>
            <a:fld id="{637193FD-AEC5-0B48-8731-2CF9BDB067EA}" type="datetimeFigureOut">
              <a:rPr lang="en-US" smtClean="0"/>
              <a:t>7/5/26</a:t>
            </a:fld>
            <a:endParaRPr lang="en-US"/>
          </a:p>
        </p:txBody>
      </p:sp>
      <p:sp>
        <p:nvSpPr>
          <p:cNvPr id="4" name="Footer Placeholder 3">
            <a:extLst>
              <a:ext uri="{FF2B5EF4-FFF2-40B4-BE49-F238E27FC236}">
                <a16:creationId xmlns:a16="http://schemas.microsoft.com/office/drawing/2014/main" id="{436B376D-9CDE-459C-1416-24239404A5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D8E756F-A17F-9E43-0808-CE1A0F128CBD}"/>
              </a:ext>
            </a:extLst>
          </p:cNvPr>
          <p:cNvSpPr>
            <a:spLocks noGrp="1"/>
          </p:cNvSpPr>
          <p:nvPr>
            <p:ph type="sldNum" sz="quarter" idx="12"/>
          </p:nvPr>
        </p:nvSpPr>
        <p:spPr/>
        <p:txBody>
          <a:bodyPr/>
          <a:lstStyle/>
          <a:p>
            <a:fld id="{24C21AD7-F27C-C44C-B050-CDB1AE514627}" type="slidenum">
              <a:rPr lang="en-US" smtClean="0"/>
              <a:t>‹#›</a:t>
            </a:fld>
            <a:endParaRPr lang="en-US"/>
          </a:p>
        </p:txBody>
      </p:sp>
    </p:spTree>
    <p:extLst>
      <p:ext uri="{BB962C8B-B14F-4D97-AF65-F5344CB8AC3E}">
        <p14:creationId xmlns:p14="http://schemas.microsoft.com/office/powerpoint/2010/main" val="18800322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9FF921-FD98-67F4-F813-740AAA454486}"/>
              </a:ext>
            </a:extLst>
          </p:cNvPr>
          <p:cNvSpPr>
            <a:spLocks noGrp="1"/>
          </p:cNvSpPr>
          <p:nvPr>
            <p:ph type="dt" sz="half" idx="10"/>
          </p:nvPr>
        </p:nvSpPr>
        <p:spPr/>
        <p:txBody>
          <a:bodyPr/>
          <a:lstStyle/>
          <a:p>
            <a:fld id="{637193FD-AEC5-0B48-8731-2CF9BDB067EA}" type="datetimeFigureOut">
              <a:rPr lang="en-US" smtClean="0"/>
              <a:t>7/5/26</a:t>
            </a:fld>
            <a:endParaRPr lang="en-US"/>
          </a:p>
        </p:txBody>
      </p:sp>
      <p:sp>
        <p:nvSpPr>
          <p:cNvPr id="3" name="Footer Placeholder 2">
            <a:extLst>
              <a:ext uri="{FF2B5EF4-FFF2-40B4-BE49-F238E27FC236}">
                <a16:creationId xmlns:a16="http://schemas.microsoft.com/office/drawing/2014/main" id="{E695F22E-6F0B-836A-EBFE-5CBBAE1A82D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3741F31-E74C-1E69-BCE5-B49E6D2B34F3}"/>
              </a:ext>
            </a:extLst>
          </p:cNvPr>
          <p:cNvSpPr>
            <a:spLocks noGrp="1"/>
          </p:cNvSpPr>
          <p:nvPr>
            <p:ph type="sldNum" sz="quarter" idx="12"/>
          </p:nvPr>
        </p:nvSpPr>
        <p:spPr/>
        <p:txBody>
          <a:bodyPr/>
          <a:lstStyle/>
          <a:p>
            <a:fld id="{24C21AD7-F27C-C44C-B050-CDB1AE514627}" type="slidenum">
              <a:rPr lang="en-US" smtClean="0"/>
              <a:t>‹#›</a:t>
            </a:fld>
            <a:endParaRPr lang="en-US"/>
          </a:p>
        </p:txBody>
      </p:sp>
    </p:spTree>
    <p:extLst>
      <p:ext uri="{BB962C8B-B14F-4D97-AF65-F5344CB8AC3E}">
        <p14:creationId xmlns:p14="http://schemas.microsoft.com/office/powerpoint/2010/main" val="30075589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9A221-C7EA-CC61-FD20-919D8100191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BBE051AF-4DE6-6407-E2E4-14CBCAE64B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0E6741E-6404-9EF1-0390-F0DD6EEA64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694454A-25EB-3163-971B-8484DF76CBB4}"/>
              </a:ext>
            </a:extLst>
          </p:cNvPr>
          <p:cNvSpPr>
            <a:spLocks noGrp="1"/>
          </p:cNvSpPr>
          <p:nvPr>
            <p:ph type="dt" sz="half" idx="10"/>
          </p:nvPr>
        </p:nvSpPr>
        <p:spPr/>
        <p:txBody>
          <a:bodyPr/>
          <a:lstStyle/>
          <a:p>
            <a:fld id="{637193FD-AEC5-0B48-8731-2CF9BDB067EA}" type="datetimeFigureOut">
              <a:rPr lang="en-US" smtClean="0"/>
              <a:t>7/5/26</a:t>
            </a:fld>
            <a:endParaRPr lang="en-US"/>
          </a:p>
        </p:txBody>
      </p:sp>
      <p:sp>
        <p:nvSpPr>
          <p:cNvPr id="6" name="Footer Placeholder 5">
            <a:extLst>
              <a:ext uri="{FF2B5EF4-FFF2-40B4-BE49-F238E27FC236}">
                <a16:creationId xmlns:a16="http://schemas.microsoft.com/office/drawing/2014/main" id="{149213E6-86F7-931A-247C-01A79942C5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7B49F5-833F-ED22-BCF4-B466012B01D3}"/>
              </a:ext>
            </a:extLst>
          </p:cNvPr>
          <p:cNvSpPr>
            <a:spLocks noGrp="1"/>
          </p:cNvSpPr>
          <p:nvPr>
            <p:ph type="sldNum" sz="quarter" idx="12"/>
          </p:nvPr>
        </p:nvSpPr>
        <p:spPr/>
        <p:txBody>
          <a:bodyPr/>
          <a:lstStyle/>
          <a:p>
            <a:fld id="{24C21AD7-F27C-C44C-B050-CDB1AE514627}" type="slidenum">
              <a:rPr lang="en-US" smtClean="0"/>
              <a:t>‹#›</a:t>
            </a:fld>
            <a:endParaRPr lang="en-US"/>
          </a:p>
        </p:txBody>
      </p:sp>
    </p:spTree>
    <p:extLst>
      <p:ext uri="{BB962C8B-B14F-4D97-AF65-F5344CB8AC3E}">
        <p14:creationId xmlns:p14="http://schemas.microsoft.com/office/powerpoint/2010/main" val="543209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1ECCC-6801-D68C-C0FA-4BFA3F7FF75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62CE455C-E170-4D69-8634-FFA5B9E0D4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D128AAC-8F01-AEF7-A574-D1DFAB55BA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74D0EC6-6E77-DE8E-8D0F-9C5DB8C573A2}"/>
              </a:ext>
            </a:extLst>
          </p:cNvPr>
          <p:cNvSpPr>
            <a:spLocks noGrp="1"/>
          </p:cNvSpPr>
          <p:nvPr>
            <p:ph type="dt" sz="half" idx="10"/>
          </p:nvPr>
        </p:nvSpPr>
        <p:spPr/>
        <p:txBody>
          <a:bodyPr/>
          <a:lstStyle/>
          <a:p>
            <a:fld id="{637193FD-AEC5-0B48-8731-2CF9BDB067EA}" type="datetimeFigureOut">
              <a:rPr lang="en-US" smtClean="0"/>
              <a:t>7/5/26</a:t>
            </a:fld>
            <a:endParaRPr lang="en-US"/>
          </a:p>
        </p:txBody>
      </p:sp>
      <p:sp>
        <p:nvSpPr>
          <p:cNvPr id="6" name="Footer Placeholder 5">
            <a:extLst>
              <a:ext uri="{FF2B5EF4-FFF2-40B4-BE49-F238E27FC236}">
                <a16:creationId xmlns:a16="http://schemas.microsoft.com/office/drawing/2014/main" id="{7775861C-77A4-9F9B-3EBA-F3CFDD182C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982955-D9AA-D5D9-E0BA-E511CF142AA6}"/>
              </a:ext>
            </a:extLst>
          </p:cNvPr>
          <p:cNvSpPr>
            <a:spLocks noGrp="1"/>
          </p:cNvSpPr>
          <p:nvPr>
            <p:ph type="sldNum" sz="quarter" idx="12"/>
          </p:nvPr>
        </p:nvSpPr>
        <p:spPr/>
        <p:txBody>
          <a:bodyPr/>
          <a:lstStyle/>
          <a:p>
            <a:fld id="{24C21AD7-F27C-C44C-B050-CDB1AE514627}" type="slidenum">
              <a:rPr lang="en-US" smtClean="0"/>
              <a:t>‹#›</a:t>
            </a:fld>
            <a:endParaRPr lang="en-US"/>
          </a:p>
        </p:txBody>
      </p:sp>
    </p:spTree>
    <p:extLst>
      <p:ext uri="{BB962C8B-B14F-4D97-AF65-F5344CB8AC3E}">
        <p14:creationId xmlns:p14="http://schemas.microsoft.com/office/powerpoint/2010/main" val="8942078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FE2B2-DE97-0419-384A-16D76CA949D2}"/>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A14BA17-81ED-2C7A-218F-F7796868067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F6BCE52-F776-D0DF-76D4-5B20F584CDA0}"/>
              </a:ext>
            </a:extLst>
          </p:cNvPr>
          <p:cNvSpPr>
            <a:spLocks noGrp="1"/>
          </p:cNvSpPr>
          <p:nvPr>
            <p:ph type="dt" sz="half" idx="10"/>
          </p:nvPr>
        </p:nvSpPr>
        <p:spPr/>
        <p:txBody>
          <a:bodyPr/>
          <a:lstStyle/>
          <a:p>
            <a:fld id="{637193FD-AEC5-0B48-8731-2CF9BDB067EA}" type="datetimeFigureOut">
              <a:rPr lang="en-US" smtClean="0"/>
              <a:t>7/5/26</a:t>
            </a:fld>
            <a:endParaRPr lang="en-US"/>
          </a:p>
        </p:txBody>
      </p:sp>
      <p:sp>
        <p:nvSpPr>
          <p:cNvPr id="5" name="Footer Placeholder 4">
            <a:extLst>
              <a:ext uri="{FF2B5EF4-FFF2-40B4-BE49-F238E27FC236}">
                <a16:creationId xmlns:a16="http://schemas.microsoft.com/office/drawing/2014/main" id="{14B1CADE-E4E4-7913-217F-B6F823132B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56527D-4F26-83A5-C61B-CDB463E6E5B3}"/>
              </a:ext>
            </a:extLst>
          </p:cNvPr>
          <p:cNvSpPr>
            <a:spLocks noGrp="1"/>
          </p:cNvSpPr>
          <p:nvPr>
            <p:ph type="sldNum" sz="quarter" idx="12"/>
          </p:nvPr>
        </p:nvSpPr>
        <p:spPr/>
        <p:txBody>
          <a:bodyPr/>
          <a:lstStyle/>
          <a:p>
            <a:fld id="{24C21AD7-F27C-C44C-B050-CDB1AE514627}" type="slidenum">
              <a:rPr lang="en-US" smtClean="0"/>
              <a:t>‹#›</a:t>
            </a:fld>
            <a:endParaRPr lang="en-US"/>
          </a:p>
        </p:txBody>
      </p:sp>
    </p:spTree>
    <p:extLst>
      <p:ext uri="{BB962C8B-B14F-4D97-AF65-F5344CB8AC3E}">
        <p14:creationId xmlns:p14="http://schemas.microsoft.com/office/powerpoint/2010/main" val="19649171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A4ED1B-E35C-F9FF-7352-189D831CC49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32774F4-1169-D2CB-E305-DE8208F15B6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9BCC294-6739-2E3B-8A6E-CC8B4DC79901}"/>
              </a:ext>
            </a:extLst>
          </p:cNvPr>
          <p:cNvSpPr>
            <a:spLocks noGrp="1"/>
          </p:cNvSpPr>
          <p:nvPr>
            <p:ph type="dt" sz="half" idx="10"/>
          </p:nvPr>
        </p:nvSpPr>
        <p:spPr/>
        <p:txBody>
          <a:bodyPr/>
          <a:lstStyle/>
          <a:p>
            <a:fld id="{637193FD-AEC5-0B48-8731-2CF9BDB067EA}" type="datetimeFigureOut">
              <a:rPr lang="en-US" smtClean="0"/>
              <a:t>7/5/26</a:t>
            </a:fld>
            <a:endParaRPr lang="en-US"/>
          </a:p>
        </p:txBody>
      </p:sp>
      <p:sp>
        <p:nvSpPr>
          <p:cNvPr id="5" name="Footer Placeholder 4">
            <a:extLst>
              <a:ext uri="{FF2B5EF4-FFF2-40B4-BE49-F238E27FC236}">
                <a16:creationId xmlns:a16="http://schemas.microsoft.com/office/drawing/2014/main" id="{6493581C-D2DF-E977-C67F-704AF328ED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CA93E3-A83C-7E5A-B05B-9F0EAE6C2222}"/>
              </a:ext>
            </a:extLst>
          </p:cNvPr>
          <p:cNvSpPr>
            <a:spLocks noGrp="1"/>
          </p:cNvSpPr>
          <p:nvPr>
            <p:ph type="sldNum" sz="quarter" idx="12"/>
          </p:nvPr>
        </p:nvSpPr>
        <p:spPr/>
        <p:txBody>
          <a:bodyPr/>
          <a:lstStyle/>
          <a:p>
            <a:fld id="{24C21AD7-F27C-C44C-B050-CDB1AE514627}" type="slidenum">
              <a:rPr lang="en-US" smtClean="0"/>
              <a:t>‹#›</a:t>
            </a:fld>
            <a:endParaRPr lang="en-US"/>
          </a:p>
        </p:txBody>
      </p:sp>
    </p:spTree>
    <p:extLst>
      <p:ext uri="{BB962C8B-B14F-4D97-AF65-F5344CB8AC3E}">
        <p14:creationId xmlns:p14="http://schemas.microsoft.com/office/powerpoint/2010/main" val="27334744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912982-BD65-6FA2-16B0-4423488445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5472346-8DFA-B64D-A77E-77EEC715C1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A6129E5-F519-AE4A-B7BF-668B38639E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37193FD-AEC5-0B48-8731-2CF9BDB067EA}" type="datetimeFigureOut">
              <a:rPr lang="en-US" smtClean="0"/>
              <a:t>7/5/26</a:t>
            </a:fld>
            <a:endParaRPr lang="en-US"/>
          </a:p>
        </p:txBody>
      </p:sp>
      <p:sp>
        <p:nvSpPr>
          <p:cNvPr id="5" name="Footer Placeholder 4">
            <a:extLst>
              <a:ext uri="{FF2B5EF4-FFF2-40B4-BE49-F238E27FC236}">
                <a16:creationId xmlns:a16="http://schemas.microsoft.com/office/drawing/2014/main" id="{63E6AE39-8D7E-EAAC-9BC9-349C1F47CB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06BC862-BBFD-35F4-0171-75A4FA1F67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C21AD7-F27C-C44C-B050-CDB1AE514627}" type="slidenum">
              <a:rPr lang="en-US" smtClean="0"/>
              <a:t>‹#›</a:t>
            </a:fld>
            <a:endParaRPr lang="en-US"/>
          </a:p>
        </p:txBody>
      </p:sp>
    </p:spTree>
    <p:extLst>
      <p:ext uri="{BB962C8B-B14F-4D97-AF65-F5344CB8AC3E}">
        <p14:creationId xmlns:p14="http://schemas.microsoft.com/office/powerpoint/2010/main" val="830607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reception desk in a building&#10;&#10;AI-generated content may be incorrect.">
            <a:extLst>
              <a:ext uri="{FF2B5EF4-FFF2-40B4-BE49-F238E27FC236}">
                <a16:creationId xmlns:a16="http://schemas.microsoft.com/office/drawing/2014/main" id="{EFC3459B-FE6D-3714-F48F-2D2E4A899420}"/>
              </a:ext>
            </a:extLst>
          </p:cNvPr>
          <p:cNvPicPr>
            <a:picLocks noChangeAspect="1"/>
          </p:cNvPicPr>
          <p:nvPr/>
        </p:nvPicPr>
        <p:blipFill>
          <a:blip r:embed="rId2"/>
          <a:srcRect r="4120" b="-1"/>
          <a:stretch>
            <a:fillRect/>
          </a:stretch>
        </p:blipFill>
        <p:spPr>
          <a:xfrm>
            <a:off x="1" y="10"/>
            <a:ext cx="9669642" cy="6857990"/>
          </a:xfrm>
          <a:prstGeom prst="rect">
            <a:avLst/>
          </a:prstGeom>
        </p:spPr>
      </p:pic>
      <p:sp>
        <p:nvSpPr>
          <p:cNvPr id="11" name="Rectangle 10">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7B987793-0C16-AF10-F06F-4804C361C8C3}"/>
              </a:ext>
            </a:extLst>
          </p:cNvPr>
          <p:cNvSpPr>
            <a:spLocks noGrp="1"/>
          </p:cNvSpPr>
          <p:nvPr>
            <p:ph idx="1"/>
          </p:nvPr>
        </p:nvSpPr>
        <p:spPr>
          <a:xfrm>
            <a:off x="7531610" y="2434201"/>
            <a:ext cx="3822189" cy="3742762"/>
          </a:xfrm>
        </p:spPr>
        <p:txBody>
          <a:bodyPr>
            <a:normAutofit/>
          </a:bodyPr>
          <a:lstStyle/>
          <a:p>
            <a:pPr marL="0" indent="0">
              <a:buNone/>
            </a:pPr>
            <a:r>
              <a:rPr lang="en-US" sz="3200" b="1" dirty="0"/>
              <a:t>DERMALIFE ONCOLOGY &amp; RESEARCH INSTITUE (DORI) ANALYSIS, INSIGHTS AND RECOMMENDATION</a:t>
            </a:r>
          </a:p>
        </p:txBody>
      </p:sp>
    </p:spTree>
    <p:extLst>
      <p:ext uri="{BB962C8B-B14F-4D97-AF65-F5344CB8AC3E}">
        <p14:creationId xmlns:p14="http://schemas.microsoft.com/office/powerpoint/2010/main" val="21075325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751229-0244-4FBB-BED1-407467F4C9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3D048A-0745-36A9-B7C8-60DB7A398F43}"/>
              </a:ext>
            </a:extLst>
          </p:cNvPr>
          <p:cNvSpPr>
            <a:spLocks noGrp="1"/>
          </p:cNvSpPr>
          <p:nvPr>
            <p:ph type="ctrTitle"/>
          </p:nvPr>
        </p:nvSpPr>
        <p:spPr>
          <a:xfrm>
            <a:off x="2197101" y="735283"/>
            <a:ext cx="4978399" cy="3165045"/>
          </a:xfrm>
        </p:spPr>
        <p:txBody>
          <a:bodyPr anchor="b">
            <a:normAutofit/>
          </a:bodyPr>
          <a:lstStyle/>
          <a:p>
            <a:pPr algn="l"/>
            <a:r>
              <a:rPr lang="en-US" sz="5200" b="1"/>
              <a:t>DERMALIFE ONCOLOGY &amp; RESEARCH INSTITUE (DORI)</a:t>
            </a:r>
          </a:p>
        </p:txBody>
      </p:sp>
      <p:sp>
        <p:nvSpPr>
          <p:cNvPr id="3" name="Subtitle 2">
            <a:extLst>
              <a:ext uri="{FF2B5EF4-FFF2-40B4-BE49-F238E27FC236}">
                <a16:creationId xmlns:a16="http://schemas.microsoft.com/office/drawing/2014/main" id="{70CEDBBF-65EC-A648-43EA-C2084DEB8F77}"/>
              </a:ext>
            </a:extLst>
          </p:cNvPr>
          <p:cNvSpPr>
            <a:spLocks noGrp="1"/>
          </p:cNvSpPr>
          <p:nvPr>
            <p:ph type="subTitle" idx="1"/>
          </p:nvPr>
        </p:nvSpPr>
        <p:spPr>
          <a:xfrm>
            <a:off x="2197101" y="4078423"/>
            <a:ext cx="4978399" cy="2058657"/>
          </a:xfrm>
        </p:spPr>
        <p:txBody>
          <a:bodyPr>
            <a:normAutofit/>
          </a:bodyPr>
          <a:lstStyle/>
          <a:p>
            <a:pPr algn="l"/>
            <a:r>
              <a:rPr lang="en-US" sz="2000" dirty="0"/>
              <a:t>Dermalife Oncology &amp; Research Institute is a specialized healthcare organisation</a:t>
            </a:r>
          </a:p>
          <a:p>
            <a:pPr algn="l"/>
            <a:r>
              <a:rPr lang="en-US" sz="2000" dirty="0"/>
              <a:t>dedicated to combating skin cancer through clinical research, advanced diagnostics,</a:t>
            </a:r>
          </a:p>
          <a:p>
            <a:pPr algn="l"/>
            <a:r>
              <a:rPr lang="en-US" sz="2000" dirty="0"/>
              <a:t>and population health analytics.</a:t>
            </a:r>
          </a:p>
        </p:txBody>
      </p:sp>
      <p:pic>
        <p:nvPicPr>
          <p:cNvPr id="7" name="Graphic 6" descr="Doctor">
            <a:extLst>
              <a:ext uri="{FF2B5EF4-FFF2-40B4-BE49-F238E27FC236}">
                <a16:creationId xmlns:a16="http://schemas.microsoft.com/office/drawing/2014/main" id="{4BEE37BA-C21D-C56F-1697-F2A1EE17CFF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7549" y="2776619"/>
            <a:ext cx="1289051" cy="1289051"/>
          </a:xfrm>
          <a:prstGeom prst="rect">
            <a:avLst/>
          </a:prstGeom>
        </p:spPr>
      </p:pic>
      <p:pic>
        <p:nvPicPr>
          <p:cNvPr id="9" name="Graphic 8" descr="Doctor">
            <a:extLst>
              <a:ext uri="{FF2B5EF4-FFF2-40B4-BE49-F238E27FC236}">
                <a16:creationId xmlns:a16="http://schemas.microsoft.com/office/drawing/2014/main" id="{60564CF0-0266-415D-A8E5-2E7567F97C0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07815" y="716407"/>
            <a:ext cx="5411343" cy="5411343"/>
          </a:xfrm>
          <a:prstGeom prst="rect">
            <a:avLst/>
          </a:prstGeom>
        </p:spPr>
      </p:pic>
    </p:spTree>
    <p:extLst>
      <p:ext uri="{BB962C8B-B14F-4D97-AF65-F5344CB8AC3E}">
        <p14:creationId xmlns:p14="http://schemas.microsoft.com/office/powerpoint/2010/main" val="39794122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45B155-6CDD-4311-EBC6-48037CB41B8F}"/>
              </a:ext>
            </a:extLst>
          </p:cNvPr>
          <p:cNvSpPr>
            <a:spLocks noGrp="1"/>
          </p:cNvSpPr>
          <p:nvPr>
            <p:ph type="title"/>
          </p:nvPr>
        </p:nvSpPr>
        <p:spPr>
          <a:xfrm>
            <a:off x="1371599" y="294538"/>
            <a:ext cx="9895951" cy="1033669"/>
          </a:xfrm>
        </p:spPr>
        <p:txBody>
          <a:bodyPr>
            <a:normAutofit/>
          </a:bodyPr>
          <a:lstStyle/>
          <a:p>
            <a:r>
              <a:rPr lang="en-US" sz="4000" b="1">
                <a:solidFill>
                  <a:srgbClr val="FFFFFF"/>
                </a:solidFill>
              </a:rPr>
              <a:t>BUSINESS PROBLEM</a:t>
            </a:r>
          </a:p>
        </p:txBody>
      </p:sp>
      <p:sp>
        <p:nvSpPr>
          <p:cNvPr id="3" name="Content Placeholder 2">
            <a:extLst>
              <a:ext uri="{FF2B5EF4-FFF2-40B4-BE49-F238E27FC236}">
                <a16:creationId xmlns:a16="http://schemas.microsoft.com/office/drawing/2014/main" id="{5DE92D3C-9D5B-63FA-98E6-564030C45CDA}"/>
              </a:ext>
            </a:extLst>
          </p:cNvPr>
          <p:cNvSpPr>
            <a:spLocks noGrp="1"/>
          </p:cNvSpPr>
          <p:nvPr>
            <p:ph idx="1"/>
          </p:nvPr>
        </p:nvSpPr>
        <p:spPr>
          <a:xfrm>
            <a:off x="1371599" y="2318197"/>
            <a:ext cx="9724031" cy="3683358"/>
          </a:xfrm>
        </p:spPr>
        <p:txBody>
          <a:bodyPr anchor="ctr">
            <a:normAutofit/>
          </a:bodyPr>
          <a:lstStyle/>
          <a:p>
            <a:r>
              <a:rPr lang="en-US" sz="2000" dirty="0"/>
              <a:t>DORI has experienced a significant rise in late-stage skin cancer diagnoses, high-risk lesion progression, and recurring patient complications, particularly among elderly and underserved populations. Healthcare administrators also suspect that environmental conditions, hereditary history, smoking, alcohol consumption, and poor sanitation access are major contributors to the increasing skin cancer risk.</a:t>
            </a:r>
          </a:p>
          <a:p>
            <a:pPr marL="0" indent="0">
              <a:buNone/>
            </a:pPr>
            <a:endParaRPr lang="en-US" sz="2000" dirty="0"/>
          </a:p>
          <a:p>
            <a:r>
              <a:rPr lang="en-US" sz="2000" dirty="0"/>
              <a:t>I have been engaged as a Healthcare Data Analyst Consultant to </a:t>
            </a:r>
            <a:r>
              <a:rPr lang="en-US" sz="2000" dirty="0" err="1"/>
              <a:t>analyse</a:t>
            </a:r>
            <a:r>
              <a:rPr lang="en-US" sz="2000" dirty="0"/>
              <a:t> patient, diagnosis, and environmental health data to identify high-risk patients, uncover diagnosis trends, and provide data-driven recommendations aimed at improving early detection and preventive healthcare strategies.</a:t>
            </a:r>
          </a:p>
        </p:txBody>
      </p:sp>
    </p:spTree>
    <p:extLst>
      <p:ext uri="{BB962C8B-B14F-4D97-AF65-F5344CB8AC3E}">
        <p14:creationId xmlns:p14="http://schemas.microsoft.com/office/powerpoint/2010/main" val="955826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BE084B-3E90-DF11-C311-04F74C519F1A}"/>
              </a:ext>
            </a:extLst>
          </p:cNvPr>
          <p:cNvSpPr txBox="1"/>
          <p:nvPr/>
        </p:nvSpPr>
        <p:spPr>
          <a:xfrm>
            <a:off x="341376" y="437170"/>
            <a:ext cx="5036457" cy="830997"/>
          </a:xfrm>
          <a:prstGeom prst="rect">
            <a:avLst/>
          </a:prstGeom>
          <a:noFill/>
        </p:spPr>
        <p:txBody>
          <a:bodyPr wrap="square" rtlCol="0">
            <a:spAutoFit/>
          </a:bodyPr>
          <a:lstStyle/>
          <a:p>
            <a:r>
              <a:rPr lang="en-US" sz="2400" b="1" dirty="0"/>
              <a:t>PATIENT DEMOGRAPHIC RISK ANALYSIS</a:t>
            </a:r>
          </a:p>
        </p:txBody>
      </p:sp>
      <p:graphicFrame>
        <p:nvGraphicFramePr>
          <p:cNvPr id="5" name="Chart 4">
            <a:extLst>
              <a:ext uri="{FF2B5EF4-FFF2-40B4-BE49-F238E27FC236}">
                <a16:creationId xmlns:a16="http://schemas.microsoft.com/office/drawing/2014/main" id="{2675CDDE-1790-5051-1C03-FEB297514473}"/>
              </a:ext>
            </a:extLst>
          </p:cNvPr>
          <p:cNvGraphicFramePr/>
          <p:nvPr>
            <p:extLst>
              <p:ext uri="{D42A27DB-BD31-4B8C-83A1-F6EECF244321}">
                <p14:modId xmlns:p14="http://schemas.microsoft.com/office/powerpoint/2010/main" val="1189998625"/>
              </p:ext>
            </p:extLst>
          </p:nvPr>
        </p:nvGraphicFramePr>
        <p:xfrm>
          <a:off x="7357292" y="322468"/>
          <a:ext cx="4584192" cy="304521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02711630-C36F-3031-822C-AAB59FC67992}"/>
              </a:ext>
            </a:extLst>
          </p:cNvPr>
          <p:cNvGraphicFramePr/>
          <p:nvPr>
            <p:extLst>
              <p:ext uri="{D42A27DB-BD31-4B8C-83A1-F6EECF244321}">
                <p14:modId xmlns:p14="http://schemas.microsoft.com/office/powerpoint/2010/main" val="4231108608"/>
              </p:ext>
            </p:extLst>
          </p:nvPr>
        </p:nvGraphicFramePr>
        <p:xfrm>
          <a:off x="8606971" y="3977039"/>
          <a:ext cx="3407084" cy="2816353"/>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97168729-E1A3-80A2-60E6-0503599ADC71}"/>
              </a:ext>
            </a:extLst>
          </p:cNvPr>
          <p:cNvSpPr txBox="1"/>
          <p:nvPr/>
        </p:nvSpPr>
        <p:spPr>
          <a:xfrm>
            <a:off x="155448" y="1214161"/>
            <a:ext cx="6048684" cy="4401205"/>
          </a:xfrm>
          <a:prstGeom prst="rect">
            <a:avLst/>
          </a:prstGeom>
          <a:noFill/>
        </p:spPr>
        <p:txBody>
          <a:bodyPr wrap="square" rtlCol="0">
            <a:spAutoFit/>
          </a:bodyPr>
          <a:lstStyle/>
          <a:p>
            <a:pPr marL="285750" indent="-285750">
              <a:buFont typeface="Arial" panose="020B0604020202020204" pitchFamily="34" charset="0"/>
              <a:buChar char="•"/>
            </a:pPr>
            <a:r>
              <a:rPr lang="en-GB" sz="1400" dirty="0"/>
              <a:t>The analysis shows that older adults recorded the highest number of skin cancer diagnoses (126 cases) while younger age groups had significantly fewer cases. This indicates that skin cancer diagnoses increase considerably with age, highlighting older adults as the highest-risk population group.</a:t>
            </a:r>
          </a:p>
          <a:p>
            <a:pPr marL="285750" indent="-285750">
              <a:buFont typeface="Arial" panose="020B0604020202020204" pitchFamily="34" charset="0"/>
              <a:buChar char="•"/>
            </a:pPr>
            <a:br>
              <a:rPr lang="en-GB" sz="1400" dirty="0"/>
            </a:br>
            <a:r>
              <a:rPr lang="en-GB" sz="1400" dirty="0"/>
              <a:t>The gender distribution was relatively balanced. This suggests that skin cancer occurrence in this dataset does not show a major gender disparity.</a:t>
            </a:r>
          </a:p>
          <a:p>
            <a:pPr marL="285750" indent="-285750">
              <a:buFont typeface="Arial" panose="020B0604020202020204" pitchFamily="34" charset="0"/>
              <a:buChar char="•"/>
            </a:pPr>
            <a:br>
              <a:rPr lang="en-GB" sz="1400" dirty="0"/>
            </a:br>
            <a:r>
              <a:rPr lang="en-GB" sz="1400" dirty="0"/>
              <a:t>A total of 224 patients had a previous history of skin cancer, indicating a significant recurrence. This highlights the importance of ongoing monitoring, early detection, and regular dermatological follow-up for patients with a history of skin cancer.</a:t>
            </a:r>
          </a:p>
          <a:p>
            <a:endParaRPr lang="en-GB" sz="1400" dirty="0"/>
          </a:p>
          <a:p>
            <a:pPr marL="285750" indent="-285750">
              <a:buFont typeface="Arial" panose="020B0604020202020204" pitchFamily="34" charset="0"/>
              <a:buChar char="•"/>
            </a:pPr>
            <a:r>
              <a:rPr lang="en-GB" sz="1400" dirty="0"/>
              <a:t>Overall, the findings suggest that age is the strongest demographic factor associated with skin cancer diagnoses. Gender distribution is nearly equal. The high number of patients with previous skin cancer history emphasises the importance of surveillance and preventive care strategies.</a:t>
            </a:r>
            <a:endParaRPr lang="en-US" sz="1400" dirty="0"/>
          </a:p>
        </p:txBody>
      </p:sp>
      <p:sp>
        <p:nvSpPr>
          <p:cNvPr id="10" name="Rounded Rectangle 9">
            <a:extLst>
              <a:ext uri="{FF2B5EF4-FFF2-40B4-BE49-F238E27FC236}">
                <a16:creationId xmlns:a16="http://schemas.microsoft.com/office/drawing/2014/main" id="{4779A91B-A9A1-8717-BC91-3FE72D3CD284}"/>
              </a:ext>
            </a:extLst>
          </p:cNvPr>
          <p:cNvSpPr/>
          <p:nvPr/>
        </p:nvSpPr>
        <p:spPr>
          <a:xfrm>
            <a:off x="6096000" y="4972216"/>
            <a:ext cx="2191656" cy="18211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224</a:t>
            </a:r>
          </a:p>
        </p:txBody>
      </p:sp>
      <p:sp>
        <p:nvSpPr>
          <p:cNvPr id="11" name="TextBox 10">
            <a:extLst>
              <a:ext uri="{FF2B5EF4-FFF2-40B4-BE49-F238E27FC236}">
                <a16:creationId xmlns:a16="http://schemas.microsoft.com/office/drawing/2014/main" id="{9117B78D-6307-9F6F-9CD7-F26020D1562F}"/>
              </a:ext>
            </a:extLst>
          </p:cNvPr>
          <p:cNvSpPr txBox="1"/>
          <p:nvPr/>
        </p:nvSpPr>
        <p:spPr>
          <a:xfrm>
            <a:off x="6312264" y="5123605"/>
            <a:ext cx="2090056" cy="523220"/>
          </a:xfrm>
          <a:prstGeom prst="rect">
            <a:avLst/>
          </a:prstGeom>
          <a:noFill/>
        </p:spPr>
        <p:txBody>
          <a:bodyPr wrap="square" rtlCol="0">
            <a:spAutoFit/>
          </a:bodyPr>
          <a:lstStyle/>
          <a:p>
            <a:r>
              <a:rPr lang="en-US" sz="1400" dirty="0">
                <a:solidFill>
                  <a:schemeClr val="bg1"/>
                </a:solidFill>
              </a:rPr>
              <a:t>Pt with Previous skin cancer</a:t>
            </a:r>
          </a:p>
        </p:txBody>
      </p:sp>
    </p:spTree>
    <p:extLst>
      <p:ext uri="{BB962C8B-B14F-4D97-AF65-F5344CB8AC3E}">
        <p14:creationId xmlns:p14="http://schemas.microsoft.com/office/powerpoint/2010/main" val="4255532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3AA6F8-2F43-A877-7C83-F56F4A81674D}"/>
              </a:ext>
            </a:extLst>
          </p:cNvPr>
          <p:cNvSpPr txBox="1"/>
          <p:nvPr/>
        </p:nvSpPr>
        <p:spPr>
          <a:xfrm>
            <a:off x="114300" y="228601"/>
            <a:ext cx="7912100" cy="738664"/>
          </a:xfrm>
          <a:prstGeom prst="rect">
            <a:avLst/>
          </a:prstGeom>
          <a:noFill/>
        </p:spPr>
        <p:txBody>
          <a:bodyPr wrap="square" rtlCol="0">
            <a:spAutoFit/>
          </a:bodyPr>
          <a:lstStyle/>
          <a:p>
            <a:r>
              <a:rPr lang="en-US" sz="2400" b="1" dirty="0"/>
              <a:t>Lesion Growth &amp; Diagnosis Analysis</a:t>
            </a:r>
          </a:p>
          <a:p>
            <a:endParaRPr lang="en-US" dirty="0"/>
          </a:p>
        </p:txBody>
      </p:sp>
      <p:graphicFrame>
        <p:nvGraphicFramePr>
          <p:cNvPr id="3" name="Chart 2">
            <a:extLst>
              <a:ext uri="{FF2B5EF4-FFF2-40B4-BE49-F238E27FC236}">
                <a16:creationId xmlns:a16="http://schemas.microsoft.com/office/drawing/2014/main" id="{2C69A1B5-8914-D51D-C15E-A0CCB8036158}"/>
              </a:ext>
            </a:extLst>
          </p:cNvPr>
          <p:cNvGraphicFramePr/>
          <p:nvPr>
            <p:extLst>
              <p:ext uri="{D42A27DB-BD31-4B8C-83A1-F6EECF244321}">
                <p14:modId xmlns:p14="http://schemas.microsoft.com/office/powerpoint/2010/main" val="1862721699"/>
              </p:ext>
            </p:extLst>
          </p:nvPr>
        </p:nvGraphicFramePr>
        <p:xfrm>
          <a:off x="8179477" y="466344"/>
          <a:ext cx="3762915" cy="296265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Chart 5">
            <a:extLst>
              <a:ext uri="{FF2B5EF4-FFF2-40B4-BE49-F238E27FC236}">
                <a16:creationId xmlns:a16="http://schemas.microsoft.com/office/drawing/2014/main" id="{E9AF4D3C-E38A-381F-B277-251302D1BA71}"/>
              </a:ext>
            </a:extLst>
          </p:cNvPr>
          <p:cNvGraphicFramePr/>
          <p:nvPr>
            <p:extLst>
              <p:ext uri="{D42A27DB-BD31-4B8C-83A1-F6EECF244321}">
                <p14:modId xmlns:p14="http://schemas.microsoft.com/office/powerpoint/2010/main" val="4208092758"/>
              </p:ext>
            </p:extLst>
          </p:nvPr>
        </p:nvGraphicFramePr>
        <p:xfrm>
          <a:off x="7505891" y="3715657"/>
          <a:ext cx="4686109" cy="2859314"/>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824B125E-F492-1557-E584-185B0BEE0513}"/>
              </a:ext>
            </a:extLst>
          </p:cNvPr>
          <p:cNvSpPr txBox="1"/>
          <p:nvPr/>
        </p:nvSpPr>
        <p:spPr>
          <a:xfrm>
            <a:off x="413659" y="874932"/>
            <a:ext cx="5690967" cy="5909310"/>
          </a:xfrm>
          <a:prstGeom prst="rect">
            <a:avLst/>
          </a:prstGeom>
          <a:noFill/>
        </p:spPr>
        <p:txBody>
          <a:bodyPr wrap="square" rtlCol="0">
            <a:spAutoFit/>
          </a:bodyPr>
          <a:lstStyle/>
          <a:p>
            <a:pPr marL="285750" indent="-285750">
              <a:buFont typeface="Arial" panose="020B0604020202020204" pitchFamily="34" charset="0"/>
              <a:buChar char="•"/>
            </a:pPr>
            <a:r>
              <a:rPr lang="en-US" sz="1400" dirty="0"/>
              <a:t>The most common diagnosis category was ACK (461 cases), and less frequent diagnoses MEL (17 cases), indicating that benign or less aggressive lesion types dominate the dataset, whereas malignant melanoma (MEL) is the least common but the most clinically significant due to its severity.</a:t>
            </a:r>
            <a:endParaRPr lang="en-GB" sz="1400" dirty="0"/>
          </a:p>
          <a:p>
            <a:endParaRPr lang="en-US" sz="1400" dirty="0"/>
          </a:p>
          <a:p>
            <a:pPr marL="285750" indent="-285750">
              <a:buFont typeface="Arial" panose="020B0604020202020204" pitchFamily="34" charset="0"/>
              <a:buChar char="•"/>
            </a:pPr>
            <a:r>
              <a:rPr lang="en-US" sz="1400" dirty="0"/>
              <a:t>Lesions reported as growing over time: A total of 510 lesions were reported as increasing in size over time, suggesting that lesion growth is a relatively common clinical feature and may be an important early indicator for further diagnostic evaluation.</a:t>
            </a:r>
          </a:p>
          <a:p>
            <a:pPr marL="285750" indent="-285750">
              <a:buFont typeface="Arial" panose="020B0604020202020204" pitchFamily="34" charset="0"/>
              <a:buChar char="•"/>
            </a:pPr>
            <a:br>
              <a:rPr lang="en-US" sz="1400" dirty="0"/>
            </a:br>
            <a:r>
              <a:rPr lang="en-US" sz="1400" dirty="0"/>
              <a:t>The most frequently reported symptom was itching (670 cases), followed closely by elevation (611 cases). This shows that itching and morphological changes are the strongest symptomatic indicators associated with lesions in this dataset.</a:t>
            </a:r>
            <a:endParaRPr lang="en-GB" sz="1400" dirty="0"/>
          </a:p>
          <a:p>
            <a:endParaRPr lang="en-US" sz="1400" dirty="0"/>
          </a:p>
          <a:p>
            <a:pPr marL="285750" indent="-285750">
              <a:buFont typeface="Arial" panose="020B0604020202020204" pitchFamily="34" charset="0"/>
              <a:buChar char="•"/>
            </a:pPr>
            <a:r>
              <a:rPr lang="en-US" sz="1400" dirty="0"/>
              <a:t>MEL (melanoma) recorded the highest average lesion diameter (14mm), suggesting that melanoma cases tend to present with larger lesion sizes compared to other diagnosis types.</a:t>
            </a:r>
          </a:p>
          <a:p>
            <a:endParaRPr lang="en-GB" sz="1400" dirty="0"/>
          </a:p>
          <a:p>
            <a:pPr marL="285750" indent="-285750">
              <a:buFont typeface="Arial" panose="020B0604020202020204" pitchFamily="34" charset="0"/>
              <a:buChar char="•"/>
            </a:pPr>
            <a:r>
              <a:rPr lang="en-GB" sz="1400" dirty="0"/>
              <a:t>Overall, </a:t>
            </a:r>
            <a:r>
              <a:rPr lang="en-US" sz="1400" dirty="0"/>
              <a:t>the dataset shows that benign lesion types are more prevalent, while malignant melanoma, although less frequent, is associated with larger lesion size and higher clinical severity. Symptoms such as itching, elevation, and lesion growth appear to be key early indicators, while biopsy remains an important step in confirming diagnosis in nearly half of cases.</a:t>
            </a:r>
            <a:endParaRPr lang="en-GB" sz="1400" dirty="0"/>
          </a:p>
        </p:txBody>
      </p:sp>
      <p:sp>
        <p:nvSpPr>
          <p:cNvPr id="4" name="Rounded Rectangle 3">
            <a:extLst>
              <a:ext uri="{FF2B5EF4-FFF2-40B4-BE49-F238E27FC236}">
                <a16:creationId xmlns:a16="http://schemas.microsoft.com/office/drawing/2014/main" id="{283C28E7-99A8-938E-CADD-35BB12A4A767}"/>
              </a:ext>
            </a:extLst>
          </p:cNvPr>
          <p:cNvSpPr/>
          <p:nvPr/>
        </p:nvSpPr>
        <p:spPr>
          <a:xfrm flipV="1">
            <a:off x="6012925" y="1115223"/>
            <a:ext cx="1732774" cy="16648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endParaRPr lang="en-US" dirty="0"/>
          </a:p>
          <a:p>
            <a:pPr algn="ctr"/>
            <a:endParaRPr lang="en-US" dirty="0"/>
          </a:p>
        </p:txBody>
      </p:sp>
      <p:sp>
        <p:nvSpPr>
          <p:cNvPr id="5" name="TextBox 4">
            <a:extLst>
              <a:ext uri="{FF2B5EF4-FFF2-40B4-BE49-F238E27FC236}">
                <a16:creationId xmlns:a16="http://schemas.microsoft.com/office/drawing/2014/main" id="{74CCB8BD-86E2-BA2B-9CA3-9BA21712708A}"/>
              </a:ext>
            </a:extLst>
          </p:cNvPr>
          <p:cNvSpPr txBox="1"/>
          <p:nvPr/>
        </p:nvSpPr>
        <p:spPr>
          <a:xfrm>
            <a:off x="6250912" y="1116675"/>
            <a:ext cx="1254979" cy="830997"/>
          </a:xfrm>
          <a:prstGeom prst="rect">
            <a:avLst/>
          </a:prstGeom>
          <a:noFill/>
        </p:spPr>
        <p:txBody>
          <a:bodyPr wrap="square" rtlCol="0">
            <a:spAutoFit/>
          </a:bodyPr>
          <a:lstStyle/>
          <a:p>
            <a:pPr algn="ctr"/>
            <a:r>
              <a:rPr lang="en-US" sz="1600" b="1" dirty="0">
                <a:solidFill>
                  <a:schemeClr val="bg1"/>
                </a:solidFill>
              </a:rPr>
              <a:t>Lesion growing over time:</a:t>
            </a:r>
          </a:p>
        </p:txBody>
      </p:sp>
      <p:sp>
        <p:nvSpPr>
          <p:cNvPr id="7" name="TextBox 6">
            <a:extLst>
              <a:ext uri="{FF2B5EF4-FFF2-40B4-BE49-F238E27FC236}">
                <a16:creationId xmlns:a16="http://schemas.microsoft.com/office/drawing/2014/main" id="{90612FFE-01F1-6FE0-8DF6-09E34680DFDF}"/>
              </a:ext>
            </a:extLst>
          </p:cNvPr>
          <p:cNvSpPr txBox="1"/>
          <p:nvPr/>
        </p:nvSpPr>
        <p:spPr>
          <a:xfrm>
            <a:off x="6538404" y="2075457"/>
            <a:ext cx="679994" cy="461665"/>
          </a:xfrm>
          <a:prstGeom prst="rect">
            <a:avLst/>
          </a:prstGeom>
          <a:noFill/>
        </p:spPr>
        <p:txBody>
          <a:bodyPr wrap="none" rtlCol="0">
            <a:spAutoFit/>
          </a:bodyPr>
          <a:lstStyle/>
          <a:p>
            <a:pPr algn="ctr"/>
            <a:r>
              <a:rPr lang="en-US" sz="2400" b="1" dirty="0">
                <a:solidFill>
                  <a:schemeClr val="bg1"/>
                </a:solidFill>
              </a:rPr>
              <a:t>510</a:t>
            </a:r>
          </a:p>
        </p:txBody>
      </p:sp>
      <p:sp>
        <p:nvSpPr>
          <p:cNvPr id="9" name="Rounded Rectangle 8">
            <a:extLst>
              <a:ext uri="{FF2B5EF4-FFF2-40B4-BE49-F238E27FC236}">
                <a16:creationId xmlns:a16="http://schemas.microsoft.com/office/drawing/2014/main" id="{89399B50-EB01-BD9B-2422-C39527EB4E9D}"/>
              </a:ext>
            </a:extLst>
          </p:cNvPr>
          <p:cNvSpPr/>
          <p:nvPr/>
        </p:nvSpPr>
        <p:spPr>
          <a:xfrm flipV="1">
            <a:off x="6012925" y="3497356"/>
            <a:ext cx="1732774" cy="166489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a:p>
            <a:pPr algn="ctr"/>
            <a:endParaRPr lang="en-US" dirty="0"/>
          </a:p>
          <a:p>
            <a:pPr algn="ctr"/>
            <a:endParaRPr lang="en-US" dirty="0"/>
          </a:p>
          <a:p>
            <a:pPr algn="ctr"/>
            <a:endParaRPr lang="en-US" dirty="0"/>
          </a:p>
        </p:txBody>
      </p:sp>
      <p:sp>
        <p:nvSpPr>
          <p:cNvPr id="11" name="TextBox 10">
            <a:extLst>
              <a:ext uri="{FF2B5EF4-FFF2-40B4-BE49-F238E27FC236}">
                <a16:creationId xmlns:a16="http://schemas.microsoft.com/office/drawing/2014/main" id="{A7403E2E-88A1-C8C9-3650-1DB4FCAF7FEB}"/>
              </a:ext>
            </a:extLst>
          </p:cNvPr>
          <p:cNvSpPr txBox="1"/>
          <p:nvPr/>
        </p:nvSpPr>
        <p:spPr>
          <a:xfrm>
            <a:off x="6354534" y="3497356"/>
            <a:ext cx="1131928" cy="830997"/>
          </a:xfrm>
          <a:prstGeom prst="rect">
            <a:avLst/>
          </a:prstGeom>
          <a:noFill/>
        </p:spPr>
        <p:txBody>
          <a:bodyPr wrap="square" rtlCol="0">
            <a:spAutoFit/>
          </a:bodyPr>
          <a:lstStyle/>
          <a:p>
            <a:r>
              <a:rPr lang="en-US" sz="1600" b="1" dirty="0">
                <a:solidFill>
                  <a:schemeClr val="bg1"/>
                </a:solidFill>
              </a:rPr>
              <a:t>Largest diameter lesion:</a:t>
            </a:r>
          </a:p>
        </p:txBody>
      </p:sp>
      <p:sp>
        <p:nvSpPr>
          <p:cNvPr id="12" name="TextBox 11">
            <a:extLst>
              <a:ext uri="{FF2B5EF4-FFF2-40B4-BE49-F238E27FC236}">
                <a16:creationId xmlns:a16="http://schemas.microsoft.com/office/drawing/2014/main" id="{1E6FDBF3-EDEF-5959-FAAC-34615480BBAF}"/>
              </a:ext>
            </a:extLst>
          </p:cNvPr>
          <p:cNvSpPr txBox="1"/>
          <p:nvPr/>
        </p:nvSpPr>
        <p:spPr>
          <a:xfrm>
            <a:off x="6527134" y="4585349"/>
            <a:ext cx="691264" cy="369332"/>
          </a:xfrm>
          <a:prstGeom prst="rect">
            <a:avLst/>
          </a:prstGeom>
          <a:noFill/>
        </p:spPr>
        <p:txBody>
          <a:bodyPr wrap="square" rtlCol="0">
            <a:spAutoFit/>
          </a:bodyPr>
          <a:lstStyle/>
          <a:p>
            <a:r>
              <a:rPr lang="en-US" b="1" dirty="0">
                <a:solidFill>
                  <a:schemeClr val="bg1"/>
                </a:solidFill>
              </a:rPr>
              <a:t>MEL</a:t>
            </a:r>
          </a:p>
        </p:txBody>
      </p:sp>
    </p:spTree>
    <p:extLst>
      <p:ext uri="{BB962C8B-B14F-4D97-AF65-F5344CB8AC3E}">
        <p14:creationId xmlns:p14="http://schemas.microsoft.com/office/powerpoint/2010/main" val="3450320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62D2C4F-FB35-4433-7A8A-A6C4AA2616CB}"/>
              </a:ext>
            </a:extLst>
          </p:cNvPr>
          <p:cNvSpPr txBox="1"/>
          <p:nvPr/>
        </p:nvSpPr>
        <p:spPr>
          <a:xfrm>
            <a:off x="792480" y="316992"/>
            <a:ext cx="5095113" cy="461665"/>
          </a:xfrm>
          <a:prstGeom prst="rect">
            <a:avLst/>
          </a:prstGeom>
          <a:noFill/>
        </p:spPr>
        <p:txBody>
          <a:bodyPr wrap="none" rtlCol="0">
            <a:spAutoFit/>
          </a:bodyPr>
          <a:lstStyle/>
          <a:p>
            <a:r>
              <a:rPr lang="en-US" sz="2400" b="1" dirty="0"/>
              <a:t>Environmental Healthcare Analysis</a:t>
            </a:r>
          </a:p>
        </p:txBody>
      </p:sp>
      <p:graphicFrame>
        <p:nvGraphicFramePr>
          <p:cNvPr id="3" name="Chart 2">
            <a:extLst>
              <a:ext uri="{FF2B5EF4-FFF2-40B4-BE49-F238E27FC236}">
                <a16:creationId xmlns:a16="http://schemas.microsoft.com/office/drawing/2014/main" id="{B91A8528-DDAE-E299-7D51-A46EE210C0C1}"/>
              </a:ext>
            </a:extLst>
          </p:cNvPr>
          <p:cNvGraphicFramePr/>
          <p:nvPr>
            <p:extLst>
              <p:ext uri="{D42A27DB-BD31-4B8C-83A1-F6EECF244321}">
                <p14:modId xmlns:p14="http://schemas.microsoft.com/office/powerpoint/2010/main" val="1114959668"/>
              </p:ext>
            </p:extLst>
          </p:nvPr>
        </p:nvGraphicFramePr>
        <p:xfrm>
          <a:off x="7059168" y="402675"/>
          <a:ext cx="4758944" cy="282820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B2F02FDD-CE4F-4CA5-FDAA-6424BDD30F4C}"/>
              </a:ext>
            </a:extLst>
          </p:cNvPr>
          <p:cNvGraphicFramePr/>
          <p:nvPr>
            <p:extLst>
              <p:ext uri="{D42A27DB-BD31-4B8C-83A1-F6EECF244321}">
                <p14:modId xmlns:p14="http://schemas.microsoft.com/office/powerpoint/2010/main" val="510097244"/>
              </p:ext>
            </p:extLst>
          </p:nvPr>
        </p:nvGraphicFramePr>
        <p:xfrm>
          <a:off x="7059168" y="3429000"/>
          <a:ext cx="5023104" cy="3187869"/>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0FAC66BC-CBD1-1AA6-C04D-5C6C8E3C7A31}"/>
              </a:ext>
            </a:extLst>
          </p:cNvPr>
          <p:cNvSpPr txBox="1"/>
          <p:nvPr/>
        </p:nvSpPr>
        <p:spPr>
          <a:xfrm>
            <a:off x="243840" y="1194816"/>
            <a:ext cx="5961888" cy="4401205"/>
          </a:xfrm>
          <a:prstGeom prst="rect">
            <a:avLst/>
          </a:prstGeom>
          <a:noFill/>
        </p:spPr>
        <p:txBody>
          <a:bodyPr wrap="square" rtlCol="0">
            <a:spAutoFit/>
          </a:bodyPr>
          <a:lstStyle/>
          <a:p>
            <a:pPr marL="285750" indent="-285750">
              <a:buFont typeface="Arial" panose="020B0604020202020204" pitchFamily="34" charset="0"/>
              <a:buChar char="•"/>
            </a:pPr>
            <a:r>
              <a:rPr lang="en-GB" sz="1400" dirty="0"/>
              <a:t>The face recorded the highest number of diagnosed cases (278),  while the foot (5) and lip (7) had the fewest diagnoses. This pattern suggests that areas with greater sunlight exposure are more frequently affected, reinforcing the importance of preventive measures such as sun protection and routine skin examinations for exposed body regions.</a:t>
            </a:r>
          </a:p>
          <a:p>
            <a:endParaRPr lang="en-GB" sz="1400" dirty="0"/>
          </a:p>
          <a:p>
            <a:pPr marL="285750" indent="-285750">
              <a:buFont typeface="Arial" panose="020B0604020202020204" pitchFamily="34" charset="0"/>
              <a:buChar char="•"/>
            </a:pPr>
            <a:r>
              <a:rPr lang="en-GB" sz="1400" dirty="0"/>
              <a:t>The analysis indicates that ACK and BCC were the most frequently diagnosed conditions among patients regardless of sanitation status.</a:t>
            </a:r>
          </a:p>
          <a:p>
            <a:pPr marL="285750" indent="-285750">
              <a:buFont typeface="Arial" panose="020B0604020202020204" pitchFamily="34" charset="0"/>
              <a:buChar char="•"/>
            </a:pPr>
            <a:endParaRPr lang="en-GB" sz="1400" dirty="0"/>
          </a:p>
          <a:p>
            <a:pPr marL="285750" indent="-285750">
              <a:buFont typeface="Arial" panose="020B0604020202020204" pitchFamily="34" charset="0"/>
              <a:buChar char="•"/>
            </a:pPr>
            <a:r>
              <a:rPr lang="en-GB" sz="1400" dirty="0"/>
              <a:t> The distribution suggests that poor sanitation alone is not strongly associated with more severe skin cancer diagnoses, as malignant conditions occurred at comparatively low frequencies across the dataset. </a:t>
            </a:r>
          </a:p>
          <a:p>
            <a:pPr marL="285750" indent="-285750">
              <a:buFont typeface="Arial" panose="020B0604020202020204" pitchFamily="34" charset="0"/>
              <a:buChar char="•"/>
            </a:pPr>
            <a:r>
              <a:rPr lang="en-GB" sz="1400" dirty="0"/>
              <a:t>The findings show that skin lesion diagnoses are concentrated in sun-exposed body regions, particularly the face and forearms. </a:t>
            </a:r>
          </a:p>
          <a:p>
            <a:pPr marL="285750" indent="-285750">
              <a:buFont typeface="Arial" panose="020B0604020202020204" pitchFamily="34" charset="0"/>
              <a:buChar char="•"/>
            </a:pPr>
            <a:endParaRPr lang="en-GB" sz="1400" dirty="0"/>
          </a:p>
          <a:p>
            <a:pPr marL="285750" indent="-285750">
              <a:buFont typeface="Arial" panose="020B0604020202020204" pitchFamily="34" charset="0"/>
              <a:buChar char="•"/>
            </a:pPr>
            <a:r>
              <a:rPr lang="en-GB" sz="1400" dirty="0"/>
              <a:t>Although poor sanitation was examined as a potential factor, the results do not indicate a clear association with more severe diagnosis outcomes, suggesting that environmental exposure and other patient risk factors may play a more significant role in disease severity.</a:t>
            </a:r>
          </a:p>
        </p:txBody>
      </p:sp>
    </p:spTree>
    <p:extLst>
      <p:ext uri="{BB962C8B-B14F-4D97-AF65-F5344CB8AC3E}">
        <p14:creationId xmlns:p14="http://schemas.microsoft.com/office/powerpoint/2010/main" val="1780817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3AE976A-EE00-1CC6-1B79-39A5D951E2C0}"/>
              </a:ext>
            </a:extLst>
          </p:cNvPr>
          <p:cNvSpPr txBox="1"/>
          <p:nvPr/>
        </p:nvSpPr>
        <p:spPr>
          <a:xfrm>
            <a:off x="714911" y="313594"/>
            <a:ext cx="5569025" cy="461665"/>
          </a:xfrm>
          <a:prstGeom prst="rect">
            <a:avLst/>
          </a:prstGeom>
          <a:noFill/>
        </p:spPr>
        <p:txBody>
          <a:bodyPr wrap="none" rtlCol="0">
            <a:spAutoFit/>
          </a:bodyPr>
          <a:lstStyle/>
          <a:p>
            <a:r>
              <a:rPr lang="en-US" sz="2400" b="1" dirty="0"/>
              <a:t>Lifestyle &amp; </a:t>
            </a:r>
            <a:r>
              <a:rPr lang="en-US" sz="2400" b="1" dirty="0" err="1"/>
              <a:t>Behavioural</a:t>
            </a:r>
            <a:r>
              <a:rPr lang="en-US" sz="2400" b="1" dirty="0"/>
              <a:t> Risk Analysis  1</a:t>
            </a:r>
          </a:p>
        </p:txBody>
      </p:sp>
      <p:graphicFrame>
        <p:nvGraphicFramePr>
          <p:cNvPr id="3" name="Diagram 2">
            <a:extLst>
              <a:ext uri="{FF2B5EF4-FFF2-40B4-BE49-F238E27FC236}">
                <a16:creationId xmlns:a16="http://schemas.microsoft.com/office/drawing/2014/main" id="{5821BF7A-B475-0222-540C-150C2225F12E}"/>
              </a:ext>
            </a:extLst>
          </p:cNvPr>
          <p:cNvGraphicFramePr/>
          <p:nvPr>
            <p:extLst>
              <p:ext uri="{D42A27DB-BD31-4B8C-83A1-F6EECF244321}">
                <p14:modId xmlns:p14="http://schemas.microsoft.com/office/powerpoint/2010/main" val="3868367715"/>
              </p:ext>
            </p:extLst>
          </p:nvPr>
        </p:nvGraphicFramePr>
        <p:xfrm>
          <a:off x="6406629" y="313994"/>
          <a:ext cx="5677941" cy="33279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542F2CC4-7C13-8C65-A4AC-887386F968B5}"/>
              </a:ext>
            </a:extLst>
          </p:cNvPr>
          <p:cNvSpPr txBox="1"/>
          <p:nvPr/>
        </p:nvSpPr>
        <p:spPr>
          <a:xfrm>
            <a:off x="6622398" y="893588"/>
            <a:ext cx="1276432" cy="369332"/>
          </a:xfrm>
          <a:prstGeom prst="rect">
            <a:avLst/>
          </a:prstGeom>
          <a:noFill/>
        </p:spPr>
        <p:txBody>
          <a:bodyPr wrap="square" rtlCol="0">
            <a:spAutoFit/>
          </a:bodyPr>
          <a:lstStyle/>
          <a:p>
            <a:r>
              <a:rPr lang="en-US" dirty="0"/>
              <a:t>Diagnosis</a:t>
            </a:r>
          </a:p>
        </p:txBody>
      </p:sp>
      <p:sp>
        <p:nvSpPr>
          <p:cNvPr id="6" name="TextBox 5">
            <a:extLst>
              <a:ext uri="{FF2B5EF4-FFF2-40B4-BE49-F238E27FC236}">
                <a16:creationId xmlns:a16="http://schemas.microsoft.com/office/drawing/2014/main" id="{B840DE97-D131-5934-0973-EFAA0D496974}"/>
              </a:ext>
            </a:extLst>
          </p:cNvPr>
          <p:cNvSpPr txBox="1"/>
          <p:nvPr/>
        </p:nvSpPr>
        <p:spPr>
          <a:xfrm>
            <a:off x="10568064" y="708922"/>
            <a:ext cx="1516505" cy="646331"/>
          </a:xfrm>
          <a:prstGeom prst="rect">
            <a:avLst/>
          </a:prstGeom>
          <a:noFill/>
        </p:spPr>
        <p:txBody>
          <a:bodyPr wrap="square" rtlCol="0">
            <a:spAutoFit/>
          </a:bodyPr>
          <a:lstStyle/>
          <a:p>
            <a:r>
              <a:rPr lang="en-US" dirty="0"/>
              <a:t>Total smokers</a:t>
            </a:r>
          </a:p>
        </p:txBody>
      </p:sp>
      <p:sp>
        <p:nvSpPr>
          <p:cNvPr id="7" name="TextBox 6">
            <a:extLst>
              <a:ext uri="{FF2B5EF4-FFF2-40B4-BE49-F238E27FC236}">
                <a16:creationId xmlns:a16="http://schemas.microsoft.com/office/drawing/2014/main" id="{4F71F61B-C6C6-76C5-A4CB-23A061C264F4}"/>
              </a:ext>
            </a:extLst>
          </p:cNvPr>
          <p:cNvSpPr txBox="1"/>
          <p:nvPr/>
        </p:nvSpPr>
        <p:spPr>
          <a:xfrm>
            <a:off x="7260614" y="154924"/>
            <a:ext cx="4216475" cy="369332"/>
          </a:xfrm>
          <a:prstGeom prst="rect">
            <a:avLst/>
          </a:prstGeom>
          <a:noFill/>
        </p:spPr>
        <p:txBody>
          <a:bodyPr wrap="none" rtlCol="0">
            <a:spAutoFit/>
          </a:bodyPr>
          <a:lstStyle/>
          <a:p>
            <a:r>
              <a:rPr lang="en-US" dirty="0"/>
              <a:t>Diagnosis type common among smokers</a:t>
            </a:r>
          </a:p>
        </p:txBody>
      </p:sp>
      <p:graphicFrame>
        <p:nvGraphicFramePr>
          <p:cNvPr id="10" name="Diagram 9">
            <a:extLst>
              <a:ext uri="{FF2B5EF4-FFF2-40B4-BE49-F238E27FC236}">
                <a16:creationId xmlns:a16="http://schemas.microsoft.com/office/drawing/2014/main" id="{1B58006F-A9BA-322C-F76C-3787849D8052}"/>
              </a:ext>
            </a:extLst>
          </p:cNvPr>
          <p:cNvGraphicFramePr/>
          <p:nvPr>
            <p:extLst>
              <p:ext uri="{D42A27DB-BD31-4B8C-83A1-F6EECF244321}">
                <p14:modId xmlns:p14="http://schemas.microsoft.com/office/powerpoint/2010/main" val="494894765"/>
              </p:ext>
            </p:extLst>
          </p:nvPr>
        </p:nvGraphicFramePr>
        <p:xfrm>
          <a:off x="7260614" y="3429000"/>
          <a:ext cx="4216475" cy="332790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1" name="TextBox 10">
            <a:extLst>
              <a:ext uri="{FF2B5EF4-FFF2-40B4-BE49-F238E27FC236}">
                <a16:creationId xmlns:a16="http://schemas.microsoft.com/office/drawing/2014/main" id="{35B533C0-EB05-2BB2-E1BB-C4BC7176AFB3}"/>
              </a:ext>
            </a:extLst>
          </p:cNvPr>
          <p:cNvSpPr txBox="1"/>
          <p:nvPr/>
        </p:nvSpPr>
        <p:spPr>
          <a:xfrm>
            <a:off x="400496" y="893588"/>
            <a:ext cx="5865394" cy="5016758"/>
          </a:xfrm>
          <a:prstGeom prst="rect">
            <a:avLst/>
          </a:prstGeom>
          <a:noFill/>
        </p:spPr>
        <p:txBody>
          <a:bodyPr wrap="square" rtlCol="0">
            <a:spAutoFit/>
          </a:bodyPr>
          <a:lstStyle/>
          <a:p>
            <a:pPr marL="285750" indent="-285750">
              <a:buFont typeface="Arial" panose="020B0604020202020204" pitchFamily="34" charset="0"/>
              <a:buChar char="•"/>
            </a:pPr>
            <a:r>
              <a:rPr lang="en-GB" sz="1600" dirty="0"/>
              <a:t>Among smokers, ACK was the most frequently diagnosed condition (461 cases). More severe diagnoses such as SCC (56 cases) and MEL (17 cases) were comparatively less common. This suggests that while smokers experienced a range of skin lesion diagnoses, the majority were concentrated in the more common diagnosis categories.</a:t>
            </a:r>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r>
              <a:rPr lang="en-GB" sz="1600" dirty="0"/>
              <a:t>Out of 138 smokers, 62 also reported consuming alcohol, meaning 45% of smokers were also drinkers. This indicates that nearly half of the smoking population had multiple lifestyle risk factors, highlighting a subgroup that may benefit from targeted health education and preventive interventions.</a:t>
            </a:r>
          </a:p>
          <a:p>
            <a:endParaRPr lang="en-GB" sz="1600" dirty="0"/>
          </a:p>
          <a:p>
            <a:pPr marL="285750" indent="-285750">
              <a:buFont typeface="Arial" panose="020B0604020202020204" pitchFamily="34" charset="0"/>
              <a:buChar char="•"/>
            </a:pPr>
            <a:r>
              <a:rPr lang="en-GB" sz="1600" dirty="0"/>
              <a:t>The analysis shows that ACK and BCC are the predominant diagnosis types among smokers, while almost half of smokers also consume alcohol. Although this identifies the coexistence of lifestyle risk factors, further statistical analysis would be needed to determine whether smoking and alcohol consumption are directly associated with more severe skin cancer outcomes.</a:t>
            </a:r>
          </a:p>
        </p:txBody>
      </p:sp>
    </p:spTree>
    <p:extLst>
      <p:ext uri="{BB962C8B-B14F-4D97-AF65-F5344CB8AC3E}">
        <p14:creationId xmlns:p14="http://schemas.microsoft.com/office/powerpoint/2010/main" val="2711920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hart 6">
            <a:extLst>
              <a:ext uri="{FF2B5EF4-FFF2-40B4-BE49-F238E27FC236}">
                <a16:creationId xmlns:a16="http://schemas.microsoft.com/office/drawing/2014/main" id="{C45F554F-63C4-D81D-7501-B7EE6F24CE54}"/>
              </a:ext>
            </a:extLst>
          </p:cNvPr>
          <p:cNvGraphicFramePr/>
          <p:nvPr>
            <p:extLst>
              <p:ext uri="{D42A27DB-BD31-4B8C-83A1-F6EECF244321}">
                <p14:modId xmlns:p14="http://schemas.microsoft.com/office/powerpoint/2010/main" val="2087987765"/>
              </p:ext>
            </p:extLst>
          </p:nvPr>
        </p:nvGraphicFramePr>
        <p:xfrm>
          <a:off x="7520065" y="26232"/>
          <a:ext cx="5464986" cy="310671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E5BEEB50-30A2-9491-F147-476C39DAB2F2}"/>
              </a:ext>
            </a:extLst>
          </p:cNvPr>
          <p:cNvGraphicFramePr/>
          <p:nvPr>
            <p:extLst>
              <p:ext uri="{D42A27DB-BD31-4B8C-83A1-F6EECF244321}">
                <p14:modId xmlns:p14="http://schemas.microsoft.com/office/powerpoint/2010/main" val="135509406"/>
              </p:ext>
            </p:extLst>
          </p:nvPr>
        </p:nvGraphicFramePr>
        <p:xfrm>
          <a:off x="7520065" y="3174306"/>
          <a:ext cx="5464984" cy="3634976"/>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a:extLst>
              <a:ext uri="{FF2B5EF4-FFF2-40B4-BE49-F238E27FC236}">
                <a16:creationId xmlns:a16="http://schemas.microsoft.com/office/drawing/2014/main" id="{2386E043-1DFB-E7C7-E097-47FD3CB2527B}"/>
              </a:ext>
            </a:extLst>
          </p:cNvPr>
          <p:cNvSpPr txBox="1"/>
          <p:nvPr/>
        </p:nvSpPr>
        <p:spPr>
          <a:xfrm>
            <a:off x="149903" y="719528"/>
            <a:ext cx="7195278" cy="5262979"/>
          </a:xfrm>
          <a:prstGeom prst="rect">
            <a:avLst/>
          </a:prstGeom>
          <a:noFill/>
        </p:spPr>
        <p:txBody>
          <a:bodyPr wrap="square" rtlCol="0">
            <a:spAutoFit/>
          </a:bodyPr>
          <a:lstStyle/>
          <a:p>
            <a:pPr marL="285750" indent="-285750">
              <a:buFont typeface="Arial" panose="020B0604020202020204" pitchFamily="34" charset="0"/>
              <a:buChar char="•"/>
            </a:pPr>
            <a:r>
              <a:rPr lang="en-GB" sz="1600" dirty="0"/>
              <a:t>Patients who both smoked and consumed alcohol recorded 8 malignant cases out of 28 patients (28.6%), compared with 114 malignant cases among 1,060 patients (10.8%) who either smoked or drank but not both. This suggests that individuals with both lifestyle risk factors were more likely to develop malignant conditions, indicating a stronger association between combined smoking and alcohol use and severe skin cancer outcomes.</a:t>
            </a:r>
          </a:p>
          <a:p>
            <a:endParaRPr lang="en-GB" sz="1600" dirty="0"/>
          </a:p>
          <a:p>
            <a:pPr marL="285750" indent="-285750">
              <a:buFont typeface="Arial" panose="020B0604020202020204" pitchFamily="34" charset="0"/>
              <a:buChar char="•"/>
            </a:pPr>
            <a:r>
              <a:rPr lang="en-GB" sz="1600" dirty="0"/>
              <a:t>Among the severe diagnosis cases analysed, drinking accounted for 5 cases (71%), while smoking accounted for 2 cases (29%). Based on this, alcohol consumption showed a stronger relationship with severe diagnosis outcomes than smoking alone. However, given the relatively small number of severe cases, this finding should be interpreted with caution and validated using a larger sample.</a:t>
            </a:r>
          </a:p>
          <a:p>
            <a:endParaRPr lang="en-GB" sz="1600" dirty="0"/>
          </a:p>
          <a:p>
            <a:pPr marL="285750" indent="-285750">
              <a:buFont typeface="Arial" panose="020B0604020202020204" pitchFamily="34" charset="0"/>
              <a:buChar char="•"/>
            </a:pPr>
            <a:r>
              <a:rPr lang="en-GB" sz="1600" dirty="0"/>
              <a:t>The analysis suggests that the combination of smoking and alcohol consumption is associated with a higher likelihood of malignant skin conditions than having only one of these lifestyle factors. </a:t>
            </a:r>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r>
              <a:rPr lang="en-GB" sz="1600" dirty="0"/>
              <a:t>Additionally, alcohol consumption appeared to have a stronger relationship with severe diagnoses in this dataset, although further analysis with a larger sample would be needed to confirm this association.</a:t>
            </a:r>
          </a:p>
        </p:txBody>
      </p:sp>
      <p:sp>
        <p:nvSpPr>
          <p:cNvPr id="13" name="TextBox 12">
            <a:extLst>
              <a:ext uri="{FF2B5EF4-FFF2-40B4-BE49-F238E27FC236}">
                <a16:creationId xmlns:a16="http://schemas.microsoft.com/office/drawing/2014/main" id="{6E854516-C5ED-4E05-745A-B2F0A013051E}"/>
              </a:ext>
            </a:extLst>
          </p:cNvPr>
          <p:cNvSpPr txBox="1"/>
          <p:nvPr/>
        </p:nvSpPr>
        <p:spPr>
          <a:xfrm>
            <a:off x="149902" y="193118"/>
            <a:ext cx="4841823" cy="646331"/>
          </a:xfrm>
          <a:prstGeom prst="rect">
            <a:avLst/>
          </a:prstGeom>
          <a:noFill/>
        </p:spPr>
        <p:txBody>
          <a:bodyPr wrap="square" rtlCol="0">
            <a:spAutoFit/>
          </a:bodyPr>
          <a:lstStyle/>
          <a:p>
            <a:r>
              <a:rPr lang="en-US" b="1" dirty="0"/>
              <a:t>Lifestyle &amp; </a:t>
            </a:r>
            <a:r>
              <a:rPr lang="en-US" b="1" dirty="0" err="1"/>
              <a:t>Behavioural</a:t>
            </a:r>
            <a:r>
              <a:rPr lang="en-US" b="1" dirty="0"/>
              <a:t> Risk Analysis  2</a:t>
            </a:r>
          </a:p>
          <a:p>
            <a:endParaRPr lang="en-US" dirty="0"/>
          </a:p>
        </p:txBody>
      </p:sp>
    </p:spTree>
    <p:extLst>
      <p:ext uri="{BB962C8B-B14F-4D97-AF65-F5344CB8AC3E}">
        <p14:creationId xmlns:p14="http://schemas.microsoft.com/office/powerpoint/2010/main" val="9253276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9B38E3CB-31BB-71A7-8B55-5AB0C0C09BA8}"/>
              </a:ext>
            </a:extLst>
          </p:cNvPr>
          <p:cNvSpPr txBox="1"/>
          <p:nvPr/>
        </p:nvSpPr>
        <p:spPr>
          <a:xfrm>
            <a:off x="1371599" y="294538"/>
            <a:ext cx="9895951" cy="1033669"/>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b="1" kern="1200">
                <a:solidFill>
                  <a:srgbClr val="FFFFFF"/>
                </a:solidFill>
                <a:latin typeface="+mj-lt"/>
                <a:ea typeface="+mj-ea"/>
                <a:cs typeface="+mj-cs"/>
              </a:rPr>
              <a:t>RECOMMENDATION</a:t>
            </a:r>
          </a:p>
        </p:txBody>
      </p:sp>
      <p:sp>
        <p:nvSpPr>
          <p:cNvPr id="6" name="Rectangle 3">
            <a:extLst>
              <a:ext uri="{FF2B5EF4-FFF2-40B4-BE49-F238E27FC236}">
                <a16:creationId xmlns:a16="http://schemas.microsoft.com/office/drawing/2014/main" id="{8AADD74E-9DEF-905F-159F-91EF99A41BB1}"/>
              </a:ext>
            </a:extLst>
          </p:cNvPr>
          <p:cNvSpPr>
            <a:spLocks noChangeArrowheads="1"/>
          </p:cNvSpPr>
          <p:nvPr/>
        </p:nvSpPr>
        <p:spPr bwMode="auto">
          <a:xfrm>
            <a:off x="323850" y="2222500"/>
            <a:ext cx="11487149" cy="434096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Autofit/>
          </a:bodyPr>
          <a:lstStyle/>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600" b="1" i="0" u="none" strike="noStrike" cap="none" normalizeH="0" baseline="0" dirty="0" err="1">
                <a:ln>
                  <a:noFill/>
                </a:ln>
                <a:effectLst/>
              </a:rPr>
              <a:t>Prioritise</a:t>
            </a:r>
            <a:r>
              <a:rPr kumimoji="0" lang="en-US" altLang="en-US" sz="1600" b="1" i="0" u="none" strike="noStrike" cap="none" normalizeH="0" baseline="0" dirty="0">
                <a:ln>
                  <a:noFill/>
                </a:ln>
                <a:effectLst/>
              </a:rPr>
              <a:t> routine screening for older adults</a:t>
            </a:r>
            <a:br>
              <a:rPr kumimoji="0" lang="en-US" altLang="en-US" sz="1600" b="0" i="0" u="none" strike="noStrike" cap="none" normalizeH="0" baseline="0" dirty="0">
                <a:ln>
                  <a:noFill/>
                </a:ln>
                <a:effectLst/>
              </a:rPr>
            </a:br>
            <a:r>
              <a:rPr kumimoji="0" lang="en-US" altLang="en-US" sz="1600" b="0" i="0" u="none" strike="noStrike" cap="none" normalizeH="0" baseline="0" dirty="0">
                <a:ln>
                  <a:noFill/>
                </a:ln>
                <a:effectLst/>
              </a:rPr>
              <a:t>Since older adults accounted for the highest number of skin cancer diagnoses, healthcare providers should implement targeted screening </a:t>
            </a:r>
            <a:r>
              <a:rPr kumimoji="0" lang="en-US" altLang="en-US" sz="1600" b="0" i="0" u="none" strike="noStrike" cap="none" normalizeH="0" baseline="0" dirty="0" err="1">
                <a:ln>
                  <a:noFill/>
                </a:ln>
                <a:effectLst/>
              </a:rPr>
              <a:t>programmes</a:t>
            </a:r>
            <a:r>
              <a:rPr kumimoji="0" lang="en-US" altLang="en-US" sz="1600" b="0" i="0" u="none" strike="noStrike" cap="none" normalizeH="0" baseline="0" dirty="0">
                <a:ln>
                  <a:noFill/>
                </a:ln>
                <a:effectLst/>
              </a:rPr>
              <a:t> and encourage regular skin examinations for this high-risk age group to support early detection. </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600" b="1" i="0" u="none" strike="noStrike" cap="none" normalizeH="0" baseline="0" dirty="0">
                <a:ln>
                  <a:noFill/>
                </a:ln>
                <a:effectLst/>
              </a:rPr>
              <a:t>Strengthen public awareness on early warning signs</a:t>
            </a:r>
            <a:br>
              <a:rPr kumimoji="0" lang="en-US" altLang="en-US" sz="1600" b="0" i="0" u="none" strike="noStrike" cap="none" normalizeH="0" baseline="0" dirty="0">
                <a:ln>
                  <a:noFill/>
                </a:ln>
                <a:effectLst/>
              </a:rPr>
            </a:br>
            <a:r>
              <a:rPr kumimoji="0" lang="en-US" altLang="en-US" sz="1600" b="0" i="0" u="none" strike="noStrike" cap="none" normalizeH="0" baseline="0" dirty="0">
                <a:ln>
                  <a:noFill/>
                </a:ln>
                <a:effectLst/>
              </a:rPr>
              <a:t>As itching, lesion growth, elevation, and bleeding were among the most common symptoms, educational campaigns should encourage individuals to seek prompt medical attention when these signs are observed, improving the likelihood of early diagnosis. </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600" b="1" i="0" u="none" strike="noStrike" cap="none" normalizeH="0" baseline="0" dirty="0">
                <a:ln>
                  <a:noFill/>
                </a:ln>
                <a:effectLst/>
              </a:rPr>
              <a:t>Promote sun protection and preventive measures</a:t>
            </a:r>
            <a:br>
              <a:rPr kumimoji="0" lang="en-US" altLang="en-US" sz="1600" b="0" i="0" u="none" strike="noStrike" cap="none" normalizeH="0" baseline="0" dirty="0">
                <a:ln>
                  <a:noFill/>
                </a:ln>
                <a:effectLst/>
              </a:rPr>
            </a:br>
            <a:r>
              <a:rPr kumimoji="0" lang="en-US" altLang="en-US" sz="1600" b="0" i="0" u="none" strike="noStrike" cap="none" normalizeH="0" baseline="0" dirty="0">
                <a:ln>
                  <a:noFill/>
                </a:ln>
                <a:effectLst/>
              </a:rPr>
              <a:t>With the face, forearms, chest, and back recording the highest number of diagnosed cases, stakeholders should increase awareness of sun safety practices, including the use of sunscreen, protective clothing, and limiting prolonged UV exposure. </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600" b="1" i="0" u="none" strike="noStrike" cap="none" normalizeH="0" baseline="0" dirty="0">
                <a:ln>
                  <a:noFill/>
                </a:ln>
                <a:effectLst/>
              </a:rPr>
              <a:t>Develop targeted lifestyle intervention </a:t>
            </a:r>
            <a:r>
              <a:rPr kumimoji="0" lang="en-US" altLang="en-US" sz="1600" b="1" i="0" u="none" strike="noStrike" cap="none" normalizeH="0" baseline="0" dirty="0" err="1">
                <a:ln>
                  <a:noFill/>
                </a:ln>
                <a:effectLst/>
              </a:rPr>
              <a:t>programmes</a:t>
            </a:r>
            <a:br>
              <a:rPr kumimoji="0" lang="en-US" altLang="en-US" sz="1600" b="0" i="0" u="none" strike="noStrike" cap="none" normalizeH="0" baseline="0" dirty="0">
                <a:ln>
                  <a:noFill/>
                </a:ln>
                <a:effectLst/>
              </a:rPr>
            </a:br>
            <a:r>
              <a:rPr kumimoji="0" lang="en-US" altLang="en-US" sz="1600" b="0" i="0" u="none" strike="noStrike" cap="none" normalizeH="0" baseline="0" dirty="0">
                <a:ln>
                  <a:noFill/>
                </a:ln>
                <a:effectLst/>
              </a:rPr>
              <a:t>The findings suggest that patients who both smoke and consume alcohol are more likely to develop malignant conditions. Smoking cessation and alcohol reduction initiatives should therefore be integrated into skin cancer prevention </a:t>
            </a:r>
            <a:r>
              <a:rPr kumimoji="0" lang="en-US" altLang="en-US" sz="1600" b="0" i="0" u="none" strike="noStrike" cap="none" normalizeH="0" baseline="0" dirty="0" err="1">
                <a:ln>
                  <a:noFill/>
                </a:ln>
                <a:effectLst/>
              </a:rPr>
              <a:t>programmes</a:t>
            </a:r>
            <a:r>
              <a:rPr kumimoji="0" lang="en-US" altLang="en-US" sz="1600" b="0" i="0" u="none" strike="noStrike" cap="none" normalizeH="0" baseline="0" dirty="0">
                <a:ln>
                  <a:noFill/>
                </a:ln>
                <a:effectLst/>
              </a:rPr>
              <a:t> for at-risk populations. </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1600" b="1" i="0" u="none" strike="noStrike" cap="none" normalizeH="0" baseline="0" dirty="0">
                <a:ln>
                  <a:noFill/>
                </a:ln>
                <a:effectLst/>
              </a:rPr>
              <a:t>Enhance follow-up care for high-risk patients</a:t>
            </a:r>
            <a:br>
              <a:rPr kumimoji="0" lang="en-US" altLang="en-US" sz="1600" b="0" i="0" u="none" strike="noStrike" cap="none" normalizeH="0" baseline="0" dirty="0">
                <a:ln>
                  <a:noFill/>
                </a:ln>
                <a:effectLst/>
              </a:rPr>
            </a:br>
            <a:r>
              <a:rPr kumimoji="0" lang="en-US" altLang="en-US" sz="1600" b="0" i="0" u="none" strike="noStrike" cap="none" normalizeH="0" baseline="0" dirty="0">
                <a:ln>
                  <a:noFill/>
                </a:ln>
                <a:effectLst/>
              </a:rPr>
              <a:t>Given the high number of patients with a previous history of skin cancer, healthcare providers should establish regular follow-up schedules and ongoing monitoring to improve early detection of recurrence and support timely clinical intervention</a:t>
            </a:r>
          </a:p>
        </p:txBody>
      </p:sp>
    </p:spTree>
    <p:extLst>
      <p:ext uri="{BB962C8B-B14F-4D97-AF65-F5344CB8AC3E}">
        <p14:creationId xmlns:p14="http://schemas.microsoft.com/office/powerpoint/2010/main" val="8956496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342</TotalTime>
  <Words>1437</Words>
  <Application>Microsoft Macintosh PowerPoint</Application>
  <PresentationFormat>Widescreen</PresentationFormat>
  <Paragraphs>83</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PowerPoint Presentation</vt:lpstr>
      <vt:lpstr>DERMALIFE ONCOLOGY &amp; RESEARCH INSTITUE (DORI)</vt:lpstr>
      <vt:lpstr>BUSINESS PROBLEM</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Amobi Ozoude</dc:creator>
  <cp:lastModifiedBy>Amobi Ozoude</cp:lastModifiedBy>
  <cp:revision>18</cp:revision>
  <dcterms:created xsi:type="dcterms:W3CDTF">2026-06-29T21:11:04Z</dcterms:created>
  <dcterms:modified xsi:type="dcterms:W3CDTF">2026-07-05T15:24:17Z</dcterms:modified>
</cp:coreProperties>
</file>